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4"/>
    <p:sldMasterId id="2147483732" r:id="rId5"/>
  </p:sldMasterIdLst>
  <p:notesMasterIdLst>
    <p:notesMasterId r:id="rId47"/>
  </p:notesMasterIdLst>
  <p:sldIdLst>
    <p:sldId id="295" r:id="rId6"/>
    <p:sldId id="321" r:id="rId7"/>
    <p:sldId id="363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9" r:id="rId23"/>
    <p:sldId id="340" r:id="rId24"/>
    <p:sldId id="341" r:id="rId25"/>
    <p:sldId id="342" r:id="rId26"/>
    <p:sldId id="344" r:id="rId27"/>
    <p:sldId id="345" r:id="rId28"/>
    <p:sldId id="346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338" r:id="rId45"/>
    <p:sldId id="362" r:id="rId4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8"/>
    </p:embeddedFont>
    <p:embeddedFont>
      <p:font typeface="Montserrat" panose="000005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26" userDrawn="1">
          <p15:clr>
            <a:srgbClr val="A4A3A4"/>
          </p15:clr>
        </p15:guide>
        <p15:guide id="5" orient="horz" pos="1008" userDrawn="1">
          <p15:clr>
            <a:srgbClr val="A4A3A4"/>
          </p15:clr>
        </p15:guide>
        <p15:guide id="7" pos="4921" userDrawn="1">
          <p15:clr>
            <a:srgbClr val="A4A3A4"/>
          </p15:clr>
        </p15:guide>
        <p15:guide id="8" pos="3266" userDrawn="1">
          <p15:clr>
            <a:srgbClr val="A4A3A4"/>
          </p15:clr>
        </p15:guide>
        <p15:guide id="10" orient="horz" pos="1325" userDrawn="1">
          <p15:clr>
            <a:srgbClr val="A4A3A4"/>
          </p15:clr>
        </p15:guide>
        <p15:guide id="14" orient="horz" pos="849" userDrawn="1">
          <p15:clr>
            <a:srgbClr val="A4A3A4"/>
          </p15:clr>
        </p15:guide>
        <p15:guide id="16" orient="horz" pos="2618" userDrawn="1">
          <p15:clr>
            <a:srgbClr val="A4A3A4"/>
          </p15:clr>
        </p15:guide>
        <p15:guide id="17" orient="horz" pos="2867" userDrawn="1">
          <p15:clr>
            <a:srgbClr val="A4A3A4"/>
          </p15:clr>
        </p15:guide>
        <p15:guide id="18" pos="226" userDrawn="1">
          <p15:clr>
            <a:srgbClr val="A4A3A4"/>
          </p15:clr>
        </p15:guide>
        <p15:guide id="19" pos="4377" userDrawn="1">
          <p15:clr>
            <a:srgbClr val="A4A3A4"/>
          </p15:clr>
        </p15:guide>
        <p15:guide id="20" orient="horz" pos="1166" userDrawn="1">
          <p15:clr>
            <a:srgbClr val="A4A3A4"/>
          </p15:clr>
        </p15:guide>
        <p15:guide id="21" orient="horz" pos="3240" userDrawn="1">
          <p15:clr>
            <a:srgbClr val="A4A3A4"/>
          </p15:clr>
        </p15:guide>
        <p15:guide id="22" pos="2767" userDrawn="1">
          <p15:clr>
            <a:srgbClr val="A4A3A4"/>
          </p15:clr>
        </p15:guide>
        <p15:guide id="23" pos="381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7DD8A5-A728-9C7C-F9A6-F26C08135F17}" name="Macdonald, Lucy J" initials="MLJ" userId="S::ade372@abdn.ac.uk::f488a842-baa6-445c-8bd4-613a5949b1d7" providerId="AD"/>
  <p188:author id="{7CAF7BF6-7A11-9674-ED67-4A4149AD6C3E}" name="Law, Karen" initials="LK" userId="S::lls032@abdn.ac.uk::4db01025-f5d7-4169-8d29-d41e4834ac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547"/>
    <a:srgbClr val="593341"/>
    <a:srgbClr val="923038"/>
    <a:srgbClr val="BF2E31"/>
    <a:srgbClr val="E02D2D"/>
    <a:srgbClr val="003F65"/>
    <a:srgbClr val="00457A"/>
    <a:srgbClr val="004E97"/>
    <a:srgbClr val="0056AD"/>
    <a:srgbClr val="005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BB2BF8-ADE0-064A-A489-844618834328}" v="7824" dt="2025-02-13T13:15:47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459"/>
    <p:restoredTop sz="94863"/>
  </p:normalViewPr>
  <p:slideViewPr>
    <p:cSldViewPr snapToGrid="0">
      <p:cViewPr varScale="1">
        <p:scale>
          <a:sx n="117" d="100"/>
          <a:sy n="117" d="100"/>
        </p:scale>
        <p:origin x="84" y="720"/>
      </p:cViewPr>
      <p:guideLst>
        <p:guide orient="horz" pos="3026"/>
        <p:guide orient="horz" pos="1008"/>
        <p:guide pos="4921"/>
        <p:guide pos="3266"/>
        <p:guide orient="horz" pos="1325"/>
        <p:guide orient="horz" pos="849"/>
        <p:guide orient="horz" pos="2618"/>
        <p:guide orient="horz" pos="2867"/>
        <p:guide pos="226"/>
        <p:guide pos="4377"/>
        <p:guide orient="horz" pos="1166"/>
        <p:guide orient="horz" pos="3240"/>
        <p:guide pos="2767"/>
        <p:guide pos="38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presProps" Target="presProps.xml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font" Target="fonts/font1.fntdata"/><Relationship Id="rId56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font" Target="fonts/font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2.fntdata"/><Relationship Id="rId57" Type="http://schemas.microsoft.com/office/2015/10/relationships/revisionInfo" Target="revisionInfo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9AD5-E527-AA89-9F45-BAF43648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A925C-0986-02CB-7D33-70310C7D4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6AC93-7AA3-BC86-807D-FDEC7C2B8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89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66290-E319-99C9-408A-FAF3E4125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E4CD7-433E-84AB-7F56-43B807F8D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EDC71-FAA7-4B79-49F3-6021B75D5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90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14590-83EA-3DE9-F9BE-6D117456D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EA3C9-1AE9-87C2-17AD-CCC3E2089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9A287-98F9-B78C-7BDA-F8D2D0F22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519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176CB-35FA-E6FE-C60C-C9B21BDC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F7B2A-992C-AF44-ECE5-CB7AC0675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47FA1-58E8-82C8-9E72-2F2AD1EE0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882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84D09-DE3E-EDED-2A29-CA1EEB31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F5F06-CFF3-3B44-187E-94F2DB6FF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7F0CF-E250-0182-6263-206E0D72C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881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2FDA4-D671-BF6D-D03A-4F881B5DA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7542D-4686-1C4C-339D-513C48016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B7CD9-2729-3C59-4F67-88EE48AF2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862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ADDBF-D3C6-0A0A-8B9E-E951BAE78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66A7F-93A2-4CBD-1C02-2514A7D9A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BFE6F-C52B-BD2D-01A9-600BCF248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60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47E4-EE18-132D-6524-E0D5F04F7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FFEF5-403D-EE08-F518-D62589518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ED890-4FAC-C6BA-1B06-C06346C8A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36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23D69-14E1-161E-AAFE-A03FD549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D250C-9816-019D-8198-6FB0EE80B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9F872-081A-EB44-AC63-A1F1F3C0B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76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A94AD-145D-6284-CCEB-76AF51097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C4A3A-A60F-DD6B-28D8-0F3BFA9AD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1A44F-68AB-65EA-36AC-53B62EA17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368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5780A-ADEC-5882-64A0-5AE9929A7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1DB46-0100-4341-C934-39AF897FB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43595-699D-0920-97AA-F3F8F69F4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05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AEC0-D461-5226-0DC8-1099CFA1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66AEC-2BE3-C0FD-AF0F-7AE60B6D4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FDF67-FDC9-F874-2452-C0B02B5BD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73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0C41-CDB5-34FB-D1D0-188C84F0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FF2AB-0637-9749-F017-DA046330C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FDD14-41A1-7CB3-C0F4-4ED0E7F48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473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A449-29CF-029F-A47B-BC24A4C3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88F11-76CD-09BA-DDA6-D80D0ED8D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86A82-319E-8ED6-8188-CA5289A7F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53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A8D3-36E7-D952-9C83-7E3F2E1C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599FA-E3E0-942E-55F5-A991059E0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4320D-1B92-C678-0C27-318C05FD2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783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752E5-2527-DFE1-4A6F-D621A8C5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BD482-C67C-EDC3-D464-AB0B39889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16698-55EA-8C75-13A7-6EE4C1DD6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772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E5B7-2352-C58D-49B0-FEBACED1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381DB-9AE2-9FC2-B034-93A4869C6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93484-32FD-845B-0CA7-FE59D02AD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224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0F331-CFAE-A52D-AF21-60E2A893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3CCE0-4664-A04A-FE2A-DC34FBAD7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2CFCD-A2EB-B10F-1524-A1DA85B62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343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96210-B326-EEB5-B4BF-282003FC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E6B63-A0EF-5C74-5D4C-D81D4D3C9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DE67A-D7EE-C152-B208-BA317C4F9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2462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BF68-1BD6-BA8B-8A06-CF419531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B623B-2915-CF03-B789-877F41B0C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11080-B377-0A8B-78C9-BF8D0DE6B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2304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74D9E-B64B-2029-6F0A-087B3F25A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B7ECC-6B2C-002C-FFD1-1FCE75616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5A38D-4D3B-ECB1-AA50-9C7D8640A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8296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7B19-A2B5-6854-AFD0-B8E1E040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86181-6784-F8F0-D573-551A28577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459D8-766C-2531-E403-CE2F3E259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14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5C7F-E18B-AD7B-4027-24488CA2D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F7E66-7415-0AF8-13E2-2FB7F72C0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DA441-DFC2-77B4-4E30-CFF61B629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9576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78ED1-1EFF-C3C4-4B56-1D07A6E87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46EF0-D825-EC1A-80B7-1935C9C4C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1D0EF-83F1-3894-DD2D-669E33836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8444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A00E9-9FCA-F5A7-345B-06BE55FE2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11960-D625-7A9F-93D2-5D9EF686C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9250C-2C2C-E3D0-81FB-BBD8DDF06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3261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4967-3970-A91F-58FE-C71C1B31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70E67-B3F1-9511-09F5-7EAA71A49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D25E1-3F64-5C73-1287-349F3D8FE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43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C8D78-EB41-8B49-7E64-E7406396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ADD52-4C58-CC8D-32AE-46FFCBD6A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A7F7C-1FFA-CD51-DE3D-761A5D711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5965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5A9B-F867-1854-9A6C-4D51E575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106D2-83D4-64D0-CE51-70C871A3F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633DC-49ED-5F7C-C1F6-8EB668276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529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493AD-C5F1-53E7-BAB0-88B98F35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25915-1061-E2D9-C95E-FB90E6AC8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87F31-AD24-E20F-B786-6FD6B3CBB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1087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40A9C-92AA-1B57-39FF-AE8CC91F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7A147-EB43-0160-0F0C-13A48F999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BB6AF-CCA0-6A19-A10C-AF0566483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3005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B489-A8B1-E963-45B0-2E3E6DD4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49D29-EAC3-58E7-C7A1-646F12A10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D091E-C1F8-C68F-2237-E9F9612DF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6030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A5EF1-8695-947E-342E-8AC956C5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7482F-021F-E3D1-B4F2-101F770CF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A26F2-A97C-A163-A1F2-927CEA44F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8527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1DF7-3A4A-E0BA-280E-E4C05CC14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64D25-A62E-AA55-6A9B-EC69F1A55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83D45-B6AD-DEEC-899C-3114AF94A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6593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5516C-0F57-DD47-E05E-2BACACC2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33783-BF54-994F-D20E-C1380374A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BF957-BA34-13BE-C1D2-14818C0BB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3607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452D-7AAB-9566-9930-D9481D66D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C2E53-FC6E-64C8-F415-5BEE9FECC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B2529-1CD5-E249-A12A-93F32FFAB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8834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8CF3-63AB-F4D1-47F4-FD65608B8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7217A-025A-978D-29DE-6ED4699D4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59C04-14D4-55DC-2F59-A47583E7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0247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F49D0-737F-0B12-864D-EBA116790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EF979-96DD-DAB4-3127-9CF5270D9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10343-E0C3-1114-0DF3-8A3A19E4C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456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EE6D-F025-13BF-0B41-7150B32F1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EC038-E45B-A09C-B921-BD0A5EF5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94D3F-B020-F1BD-F059-DA138168B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5199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BA9AC-C681-78D7-E6A0-378EED35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CE1B2-518E-7B8F-C352-4D9BE67D7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697EA-E429-8E23-308E-C2C9F0117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676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00BB7-514F-C6D6-5B7F-074ABE317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F6351-C4D8-D05B-E02F-397159721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F42B0-A416-9401-6632-7FD8360F8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764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jpe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FEDC-17C2-E3B4-CDEE-235AE1C88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8D463-A0D7-DC63-A511-1429660EA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45ADA-82AA-54A8-CB05-CB810056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C8AA1-7DDC-01B5-AC98-5E6C18F7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54E00-ECAC-DE03-ABE9-03A92081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46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EBAD-D006-1E1D-156E-A9DC11FA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3318C-A8AD-6B34-2677-7D4974367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96AF6-FD95-4E0F-9EDC-6F013866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76C8B-8D5E-F175-61C6-B2C0FE2B1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532F0-1AF3-1E83-FC99-53AB27C2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47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ABA2-9E6D-40B5-4734-00285716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1C8B5-784B-8C00-6D24-8729F04EF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97B7E-E0CF-1865-60B6-E2A6816FA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6B83-947B-553A-3886-98CB7B43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9B077-9F60-1E9C-35FF-5CD51055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3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585B-BA8C-F45D-1CD7-876E96C1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60E95-694B-1820-DA2C-D988580B4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183BB-7A6B-15FC-1AF9-E56338C5E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73C25-C71F-B124-B391-FD0CEC4EA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8F69B-0565-868B-62DE-8355FC71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E77D1-D6BD-217B-64F3-B8827AB7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2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22EA-C732-4E25-B1F4-940138B9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92768-585B-09AA-761D-393841ED8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35A47-DC07-031C-B142-2734FC66B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9211B-DD34-ABE8-2D08-2E4A65F22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532AE-1BAE-BF52-3835-1AE42EA9A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C16AD-0DD7-54BA-018E-841FF9EA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5B2EA-A489-AAA7-458F-401FA75D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98CC4-4C43-1E56-E1AA-2289C07C1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6793-DAAB-8960-EC13-D9C6DB2C0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13A79F-504C-E785-F3DC-350D16F2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C215A-A049-F3EF-415D-5C9198CC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DC415-21EF-4E12-FE43-3A9654ED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16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EB899-8835-2700-92EA-500E8C66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9FB8AD-3922-4E24-47AC-1C78EDC3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ED761-7A33-7571-2FE9-6B3D3FFD1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6A12-421D-21F1-FF85-142FA747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8759D-F859-7294-7FA8-D2AA936FB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DDAD5-F4B3-B3C4-E3D7-EFE76DFB8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0D794-FF14-88BC-7D7E-B02C2CAC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13CF2-53B7-AE8B-3AA9-ECCBC51F4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8DA47-9218-F4AB-6004-87D39B4C5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0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77FA-CF5D-A059-55A7-4C177421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90AA74-93BE-D793-2D90-EEFF261A1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67F6F-AFD7-3DB3-0D90-6DD84C6CC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FCDC2-FADD-4E59-5991-9D35E82C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C583B-C44B-F6BE-B093-AA10A59B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7E63E-969E-3E59-2679-0A56F784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39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D243-1CC7-F24C-8C85-6266DEE8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A80C1-983E-13AF-E521-E019CBC60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1C633-2124-2456-ED65-9E0F7996F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20230-7ECB-199D-57D9-32A67A65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65126-E0EF-1DC9-A5AA-45D41636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2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4B1E0-3923-CE75-B988-31956B172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12691-9701-F01E-6D4D-AD9E0A301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6FF45-30E6-7F0B-B408-12D76419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E8F9F-08B9-A6B9-C371-79FC575BF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5C6FF-3F2B-1286-1C18-700DFA79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28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21616-CEDB-8605-4F34-01BC1E44B671}"/>
              </a:ext>
            </a:extLst>
          </p:cNvPr>
          <p:cNvSpPr txBox="1"/>
          <p:nvPr userDrawn="1"/>
        </p:nvSpPr>
        <p:spPr>
          <a:xfrm>
            <a:off x="295276" y="573637"/>
            <a:ext cx="8448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F1449"/>
                </a:solidFill>
              </a:rPr>
              <a:t>How to use </a:t>
            </a:r>
            <a:r>
              <a:rPr lang="en-GB" sz="2000" dirty="0">
                <a:solidFill>
                  <a:srgbClr val="0F1449"/>
                </a:solidFill>
              </a:rPr>
              <a:t>our PowerPoint template</a:t>
            </a:r>
            <a:endParaRPr lang="en-US" sz="2000" dirty="0">
              <a:solidFill>
                <a:srgbClr val="0F144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EDFD9-FC6E-2F17-9CFC-DD12295FCC8D}"/>
              </a:ext>
            </a:extLst>
          </p:cNvPr>
          <p:cNvSpPr txBox="1"/>
          <p:nvPr/>
        </p:nvSpPr>
        <p:spPr>
          <a:xfrm>
            <a:off x="314326" y="1297537"/>
            <a:ext cx="5391530" cy="3629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867" dirty="0">
                <a:solidFill>
                  <a:srgbClr val="0F1449"/>
                </a:solidFill>
              </a:rPr>
              <a:t>This is an accessible template. Please do not stray from any of the colours used.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GB" sz="1867" dirty="0">
              <a:solidFill>
                <a:srgbClr val="0F1449"/>
              </a:solidFill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b="1" dirty="0">
                <a:solidFill>
                  <a:srgbClr val="0F1449"/>
                </a:solidFill>
              </a:rPr>
              <a:t>How to change a picture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dirty="0">
                <a:solidFill>
                  <a:srgbClr val="0F1449"/>
                </a:solidFill>
              </a:rPr>
              <a:t>1. Click the picture on the slide, that you wish to replace. The picture frame    will show an outline once selected.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dirty="0">
                <a:solidFill>
                  <a:srgbClr val="0F1449"/>
                </a:solidFill>
              </a:rPr>
              <a:t>2. Go to the </a:t>
            </a:r>
            <a:r>
              <a:rPr lang="en-GB" sz="1200" b="1" dirty="0">
                <a:solidFill>
                  <a:srgbClr val="0F1449"/>
                </a:solidFill>
              </a:rPr>
              <a:t>Picture Format</a:t>
            </a:r>
            <a:r>
              <a:rPr lang="en-GB" sz="1200" dirty="0">
                <a:solidFill>
                  <a:srgbClr val="0F1449"/>
                </a:solidFill>
              </a:rPr>
              <a:t> tab – located along the top of your window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dirty="0">
                <a:solidFill>
                  <a:srgbClr val="0F1449"/>
                </a:solidFill>
              </a:rPr>
              <a:t>3. Click </a:t>
            </a:r>
            <a:r>
              <a:rPr lang="en-GB" sz="1200" b="1" dirty="0">
                <a:solidFill>
                  <a:srgbClr val="0F1449"/>
                </a:solidFill>
              </a:rPr>
              <a:t>Change Picture</a:t>
            </a:r>
            <a:endParaRPr lang="en-GB" sz="1200" b="0" dirty="0">
              <a:solidFill>
                <a:srgbClr val="0F1449"/>
              </a:solidFill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b="0" dirty="0">
                <a:solidFill>
                  <a:srgbClr val="0F1449"/>
                </a:solidFill>
              </a:rPr>
              <a:t>4. From the drop down menu select </a:t>
            </a:r>
            <a:r>
              <a:rPr lang="en-GB" sz="1200" b="1" dirty="0">
                <a:solidFill>
                  <a:srgbClr val="0F1449"/>
                </a:solidFill>
              </a:rPr>
              <a:t>From a file…</a:t>
            </a:r>
            <a:r>
              <a:rPr lang="en-GB" sz="1200" b="0" dirty="0">
                <a:solidFill>
                  <a:srgbClr val="0F1449"/>
                </a:solidFill>
              </a:rPr>
              <a:t> and navigate  to the picture on your computer, that you wish to use.</a:t>
            </a:r>
            <a:endParaRPr lang="en-GB" sz="1200" b="1" dirty="0">
              <a:solidFill>
                <a:srgbClr val="0F1449"/>
              </a:solidFill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867" dirty="0">
                <a:solidFill>
                  <a:srgbClr val="0F1449"/>
                </a:solidFill>
              </a:rPr>
              <a:t> </a:t>
            </a:r>
          </a:p>
          <a:p>
            <a:endParaRPr lang="en-US" sz="1867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BD870E9-9E9D-B9C2-E7ED-78AA868427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5928404" y="3597473"/>
            <a:ext cx="2758395" cy="846943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B577ED3-DB93-4CC9-59D4-E0F4536FF6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4139" y="1993525"/>
            <a:ext cx="2757568" cy="147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86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c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3FD7C8-6591-6AC0-EAB3-CDE70DBC4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3" y="568536"/>
            <a:ext cx="3609837" cy="1535792"/>
          </a:xfrm>
          <a:prstGeom prst="rect">
            <a:avLst/>
          </a:prstGeom>
        </p:spPr>
      </p:pic>
      <p:pic>
        <p:nvPicPr>
          <p:cNvPr id="5" name="Picture 4" descr="Green lights in the sky&#10;&#10;Description automatically generated">
            <a:extLst>
              <a:ext uri="{FF2B5EF4-FFF2-40B4-BE49-F238E27FC236}">
                <a16:creationId xmlns:a16="http://schemas.microsoft.com/office/drawing/2014/main" id="{D8998E38-7B7F-0C9A-943A-08547EF312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7201" y="565831"/>
            <a:ext cx="4328748" cy="402794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8FF3ACE-2EDC-C17C-0E63-50B8A305E974}"/>
              </a:ext>
            </a:extLst>
          </p:cNvPr>
          <p:cNvSpPr txBox="1"/>
          <p:nvPr/>
        </p:nvSpPr>
        <p:spPr>
          <a:xfrm>
            <a:off x="258557" y="1390378"/>
            <a:ext cx="4789714" cy="1325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en-US" sz="5000" b="0" dirty="0">
                <a:solidFill>
                  <a:schemeClr val="tx1"/>
                </a:solidFill>
              </a:rPr>
              <a:t>Go</a:t>
            </a:r>
            <a:r>
              <a:rPr lang="en-US" sz="5000" b="1" dirty="0">
                <a:solidFill>
                  <a:schemeClr val="tx1"/>
                </a:solidFill>
              </a:rPr>
              <a:t> Beyond</a:t>
            </a:r>
          </a:p>
          <a:p>
            <a:pPr>
              <a:lnSpc>
                <a:spcPts val="4500"/>
              </a:lnSpc>
            </a:pPr>
            <a:r>
              <a:rPr lang="en-US" sz="5000" b="1" dirty="0">
                <a:solidFill>
                  <a:schemeClr val="tx1"/>
                </a:solidFill>
              </a:rPr>
              <a:t>  Boundaries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2428C7-33A7-3C26-4B51-15FE5D3A298F}"/>
              </a:ext>
            </a:extLst>
          </p:cNvPr>
          <p:cNvGrpSpPr/>
          <p:nvPr/>
        </p:nvGrpSpPr>
        <p:grpSpPr>
          <a:xfrm>
            <a:off x="6389909" y="564417"/>
            <a:ext cx="2206037" cy="1286156"/>
            <a:chOff x="6973622" y="564415"/>
            <a:chExt cx="1622324" cy="104396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25F0E5B-63C6-29A8-3498-586E1A88888E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5E61023-286A-E99D-BA06-019201FFBC71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1F729B8-41FB-7D6D-AA5F-699CAE24EA9E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08F56B8-4679-BBC0-A8B1-E1FAD3E20DC3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54D6D76-8910-F782-7730-80F15F347E3A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C477982-DE41-4715-32B6-329DA7EBD574}"/>
              </a:ext>
            </a:extLst>
          </p:cNvPr>
          <p:cNvGrpSpPr/>
          <p:nvPr/>
        </p:nvGrpSpPr>
        <p:grpSpPr>
          <a:xfrm rot="10800000">
            <a:off x="3654041" y="3159389"/>
            <a:ext cx="2735872" cy="1442977"/>
            <a:chOff x="6973622" y="564415"/>
            <a:chExt cx="1622324" cy="104396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A7FD06F-0052-0A9F-B503-1335C9958AD0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199FDAA-2913-D6CC-B0D0-4BDFF8EC30A2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C93ACB9-44F4-4E0C-615A-EBB817B21066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03C0EAF-5379-0C3D-92BD-A268D884FFF6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3BDF492-7BD9-E9B6-502A-4E5B619AE947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</p:grpSp>
    </p:spTree>
    <p:extLst>
      <p:ext uri="{BB962C8B-B14F-4D97-AF65-F5344CB8AC3E}">
        <p14:creationId xmlns:p14="http://schemas.microsoft.com/office/powerpoint/2010/main" val="3192793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54">
            <a:extLst>
              <a:ext uri="{FF2B5EF4-FFF2-40B4-BE49-F238E27FC236}">
                <a16:creationId xmlns:a16="http://schemas.microsoft.com/office/drawing/2014/main" id="{21022EE8-9487-F19B-8FED-F26AD3CD1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9" y="2221261"/>
            <a:ext cx="3511317" cy="1937139"/>
          </a:xfrm>
          <a:prstGeom prst="rect">
            <a:avLst/>
          </a:prstGeom>
        </p:spPr>
        <p:txBody>
          <a:bodyPr anchor="t"/>
          <a:lstStyle>
            <a:lvl1pPr>
              <a:lnSpc>
                <a:spcPts val="3825"/>
              </a:lnSpc>
              <a:defRPr/>
            </a:lvl1pPr>
          </a:lstStyle>
          <a:p>
            <a:pPr>
              <a:lnSpc>
                <a:spcPts val="5100"/>
              </a:lnSpc>
            </a:pPr>
            <a:r>
              <a:rPr lang="en-US" sz="3300" b="0" dirty="0">
                <a:solidFill>
                  <a:schemeClr val="tx1"/>
                </a:solidFill>
              </a:rPr>
              <a:t>Title</a:t>
            </a:r>
            <a:endParaRPr lang="en-US" sz="3300" b="1" dirty="0">
              <a:solidFill>
                <a:schemeClr val="tx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1C90CCB-4722-4D25-4FA8-FDA1C3408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45614" y="675000"/>
            <a:ext cx="3969737" cy="369240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DE0EF1-2D31-3656-BB42-09B28DF80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02" y="675000"/>
            <a:ext cx="3917411" cy="15482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4D89F58-77A9-CEFB-8FBA-DDEDF7404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00" y="534600"/>
            <a:ext cx="1870382" cy="16334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D784B1A-72F6-9126-C80B-DCE02F3CF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139706" y="2733941"/>
            <a:ext cx="1870382" cy="163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60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  <p15:guide id="5" pos="1240">
          <p15:clr>
            <a:srgbClr val="FBAE40"/>
          </p15:clr>
        </p15:guide>
        <p15:guide id="6" pos="4021">
          <p15:clr>
            <a:srgbClr val="FBAE40"/>
          </p15:clr>
        </p15:guide>
        <p15:guide id="7" orient="horz" pos="58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501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C89115-C13B-D5EB-6B6F-7E9181213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26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  <p15:guide id="5" orient="horz" pos="1616">
          <p15:clr>
            <a:srgbClr val="FBAE40"/>
          </p15:clr>
        </p15:guide>
        <p15:guide id="6" orient="horz" pos="82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C3172CFE-7FA6-4B0E-654B-FA106F165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1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11786-CDA1-67C5-BD60-4FA02E06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923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7E2B0-D9E8-D83E-AF38-586A0F884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821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5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>
          <p15:clr>
            <a:srgbClr val="FBAE40"/>
          </p15:clr>
        </p15:guide>
        <p15:guide id="2" pos="204">
          <p15:clr>
            <a:srgbClr val="FBAE40"/>
          </p15:clr>
        </p15:guide>
        <p15:guide id="3" orient="horz" pos="3026">
          <p15:clr>
            <a:srgbClr val="FBAE40"/>
          </p15:clr>
        </p15:guide>
        <p15:guide id="4" pos="553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lt">
    <p:bg>
      <p:bgPr>
        <a:solidFill>
          <a:srgbClr val="0E4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92EFCC-CF2E-A2D2-D7D9-B0A94342839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1346"/>
            <a:ext cx="2880035" cy="3432679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C52D8F7E-09E8-26BD-C2F6-417715BF46A8}"/>
              </a:ext>
            </a:extLst>
          </p:cNvPr>
          <p:cNvGrpSpPr/>
          <p:nvPr userDrawn="1"/>
        </p:nvGrpSpPr>
        <p:grpSpPr>
          <a:xfrm>
            <a:off x="2854735" y="831643"/>
            <a:ext cx="1923395" cy="1047136"/>
            <a:chOff x="2854735" y="831643"/>
            <a:chExt cx="1923395" cy="10471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BA26B9-1717-C033-0A59-4B2211D1CE37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00CC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6DBFD7-B56B-75E0-2C49-3CDD73A3945F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00CCCF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D8DEF6-27D4-AE57-B68F-36556D9E8271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00CCCF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8135E2-C088-7A35-48BB-E5DE80513407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00CCCF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A33980-BBD2-BF45-8A05-478208C4D675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00CCCF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4CAA420-79F2-D1E7-F814-241061522471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10342A-B19E-983D-A206-936898B6A4F8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00CC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1C363C-E2CD-A3DC-CA9E-D4D4C6ADA52C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00CCCF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3B4330B-0998-9433-5623-B62043F72A84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00CCCF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3B134D6-A55A-7CCE-A64A-8ADD920AB841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00CCCF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4F952A-312F-3105-3F3A-56A22A46418F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00CCCF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1E9037-0277-8BB8-0559-4F6A93CEAA11}"/>
              </a:ext>
            </a:extLst>
          </p:cNvPr>
          <p:cNvGrpSpPr/>
          <p:nvPr userDrawn="1"/>
        </p:nvGrpSpPr>
        <p:grpSpPr>
          <a:xfrm>
            <a:off x="1474981" y="3294582"/>
            <a:ext cx="1622324" cy="1043961"/>
            <a:chOff x="1436881" y="3294582"/>
            <a:chExt cx="1622324" cy="104396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582AD1E-9523-8A00-454A-D37460CAA25A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2D7DC96-58CC-5BD3-05F0-5478CA0A5755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251240F-F6F1-56AB-5D89-29E458E1CEC5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EA3F7-CA25-7CFD-3C37-80B58D40BEDC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95E4FA-4ED6-E0C0-455F-8469081F97E3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1518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Google Shape;186;p31">
            <a:extLst>
              <a:ext uri="{FF2B5EF4-FFF2-40B4-BE49-F238E27FC236}">
                <a16:creationId xmlns:a16="http://schemas.microsoft.com/office/drawing/2014/main" id="{4D4F6D7B-5AAF-9440-001C-C5A64F44BE22}"/>
              </a:ext>
            </a:extLst>
          </p:cNvPr>
          <p:cNvSpPr txBox="1">
            <a:spLocks/>
          </p:cNvSpPr>
          <p:nvPr userDrawn="1"/>
        </p:nvSpPr>
        <p:spPr>
          <a:xfrm>
            <a:off x="3719883" y="1224936"/>
            <a:ext cx="4277804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This is body test set at Arial Regular at 14pt.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Within the title you can use bold for emphasis, please use it selectively for greater effectiveness. </a:t>
            </a:r>
            <a:endParaRPr lang="en-GB" sz="1400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Text is presented in white on our foundation coloured backgrounds, this is Daybreak foundation.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These fonts sizes have been used to ensure best legibility when presenting on screen. </a:t>
            </a:r>
            <a:endParaRPr lang="en-GB" sz="14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4" name="Google Shape;185;p31">
            <a:extLst>
              <a:ext uri="{FF2B5EF4-FFF2-40B4-BE49-F238E27FC236}">
                <a16:creationId xmlns:a16="http://schemas.microsoft.com/office/drawing/2014/main" id="{5D445516-44ED-5B5C-EB9B-34C164835319}"/>
              </a:ext>
            </a:extLst>
          </p:cNvPr>
          <p:cNvSpPr txBox="1">
            <a:spLocks/>
          </p:cNvSpPr>
          <p:nvPr userDrawn="1"/>
        </p:nvSpPr>
        <p:spPr>
          <a:xfrm>
            <a:off x="360324" y="1217483"/>
            <a:ext cx="3045027" cy="150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FBCB3B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Title sits here in Arial </a:t>
            </a: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FBCB3B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Regular at 24pt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Montserrat"/>
              <a:buNone/>
            </a:pPr>
            <a:r>
              <a:rPr lang="en-GB" sz="1800" b="0" i="0" dirty="0">
                <a:solidFill>
                  <a:schemeClr val="bg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Subtitle here Arial Regular   at 18pt</a:t>
            </a:r>
            <a:endParaRPr lang="en-GB" sz="891" b="0" i="0" dirty="0">
              <a:solidFill>
                <a:schemeClr val="bg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009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43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Google Shape;186;p31">
            <a:extLst>
              <a:ext uri="{FF2B5EF4-FFF2-40B4-BE49-F238E27FC236}">
                <a16:creationId xmlns:a16="http://schemas.microsoft.com/office/drawing/2014/main" id="{4D4F6D7B-5AAF-9440-001C-C5A64F44BE22}"/>
              </a:ext>
            </a:extLst>
          </p:cNvPr>
          <p:cNvSpPr txBox="1">
            <a:spLocks/>
          </p:cNvSpPr>
          <p:nvPr userDrawn="1"/>
        </p:nvSpPr>
        <p:spPr>
          <a:xfrm>
            <a:off x="3719883" y="1224936"/>
            <a:ext cx="4277804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This is body test set at Arial Regular at 14pt.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Within the title you can use bold for emphasis, please use it selectively for greater effectiveness. </a:t>
            </a:r>
            <a:endParaRPr lang="en-GB" sz="1400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Text is presented in white on our foundation coloured backgrounds, this is Heritage foundation.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These fonts sizes have been used to ensure best legibility when presenting on screen. </a:t>
            </a:r>
            <a:endParaRPr lang="en-GB" sz="14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4" name="Google Shape;185;p31">
            <a:extLst>
              <a:ext uri="{FF2B5EF4-FFF2-40B4-BE49-F238E27FC236}">
                <a16:creationId xmlns:a16="http://schemas.microsoft.com/office/drawing/2014/main" id="{5D445516-44ED-5B5C-EB9B-34C164835319}"/>
              </a:ext>
            </a:extLst>
          </p:cNvPr>
          <p:cNvSpPr txBox="1">
            <a:spLocks/>
          </p:cNvSpPr>
          <p:nvPr userDrawn="1"/>
        </p:nvSpPr>
        <p:spPr>
          <a:xfrm>
            <a:off x="360324" y="1217483"/>
            <a:ext cx="3045027" cy="150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75E0AA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Title sits here in Arial </a:t>
            </a: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75E0AA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Regular at 24pt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Montserrat"/>
              <a:buNone/>
            </a:pPr>
            <a:r>
              <a:rPr lang="en-GB" sz="1800" b="0" i="0" dirty="0">
                <a:solidFill>
                  <a:schemeClr val="bg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Subtitle here Arial Regular   at 18pt</a:t>
            </a:r>
            <a:endParaRPr lang="en-GB" sz="891" b="0" i="0" dirty="0">
              <a:solidFill>
                <a:schemeClr val="bg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80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7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Google Shape;186;p31">
            <a:extLst>
              <a:ext uri="{FF2B5EF4-FFF2-40B4-BE49-F238E27FC236}">
                <a16:creationId xmlns:a16="http://schemas.microsoft.com/office/drawing/2014/main" id="{4D4F6D7B-5AAF-9440-001C-C5A64F44BE22}"/>
              </a:ext>
            </a:extLst>
          </p:cNvPr>
          <p:cNvSpPr txBox="1">
            <a:spLocks/>
          </p:cNvSpPr>
          <p:nvPr userDrawn="1"/>
        </p:nvSpPr>
        <p:spPr>
          <a:xfrm>
            <a:off x="3719883" y="1224936"/>
            <a:ext cx="4277804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This is body test set at Arial Regular at 14pt.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Within the title you can use bold for emphasis, please use it selectively for greater effectiveness. </a:t>
            </a:r>
            <a:endParaRPr lang="en-GB" sz="1400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Text is presented in white on our foundation coloured backgrounds, this is Midnight foundation.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These fonts sizes have been used to ensure best legibility when presenting on screen. </a:t>
            </a:r>
            <a:endParaRPr lang="en-GB" sz="14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4" name="Google Shape;185;p31">
            <a:extLst>
              <a:ext uri="{FF2B5EF4-FFF2-40B4-BE49-F238E27FC236}">
                <a16:creationId xmlns:a16="http://schemas.microsoft.com/office/drawing/2014/main" id="{5D445516-44ED-5B5C-EB9B-34C164835319}"/>
              </a:ext>
            </a:extLst>
          </p:cNvPr>
          <p:cNvSpPr txBox="1">
            <a:spLocks/>
          </p:cNvSpPr>
          <p:nvPr userDrawn="1"/>
        </p:nvSpPr>
        <p:spPr>
          <a:xfrm>
            <a:off x="360324" y="1217483"/>
            <a:ext cx="3045027" cy="150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00CCCF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Title sits here in Arial </a:t>
            </a: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00CCCF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Regular at 24pt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Montserrat"/>
              <a:buNone/>
            </a:pPr>
            <a:r>
              <a:rPr lang="en-GB" sz="1800" b="0" i="0" dirty="0">
                <a:solidFill>
                  <a:schemeClr val="bg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Subtitle here Arial Regular   at 18pt</a:t>
            </a:r>
            <a:endParaRPr lang="en-GB" sz="891" b="0" i="0" dirty="0">
              <a:solidFill>
                <a:schemeClr val="bg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30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ic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2961389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pic>
        <p:nvPicPr>
          <p:cNvPr id="5" name="Picture 4" descr="Green lights in the sky&#10;&#10;Description automatically generated">
            <a:extLst>
              <a:ext uri="{FF2B5EF4-FFF2-40B4-BE49-F238E27FC236}">
                <a16:creationId xmlns:a16="http://schemas.microsoft.com/office/drawing/2014/main" id="{D8998E38-7B7F-0C9A-943A-08547EF31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7201" y="565830"/>
            <a:ext cx="4328748" cy="402794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FFC6B29-86D6-4F54-7A6A-1689EB1FF804}"/>
              </a:ext>
            </a:extLst>
          </p:cNvPr>
          <p:cNvGrpSpPr/>
          <p:nvPr userDrawn="1"/>
        </p:nvGrpSpPr>
        <p:grpSpPr>
          <a:xfrm>
            <a:off x="537166" y="565830"/>
            <a:ext cx="1585548" cy="1121430"/>
            <a:chOff x="5279444" y="0"/>
            <a:chExt cx="1493102" cy="112143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5F02B4-68FE-6BEE-99A5-B7F916FD4109}"/>
                </a:ext>
              </a:extLst>
            </p:cNvPr>
            <p:cNvSpPr/>
            <p:nvPr/>
          </p:nvSpPr>
          <p:spPr>
            <a:xfrm>
              <a:off x="5279446" y="0"/>
              <a:ext cx="1493100" cy="225086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51E83F-87B2-A240-36D4-1889BA983F68}"/>
                </a:ext>
              </a:extLst>
            </p:cNvPr>
            <p:cNvSpPr/>
            <p:nvPr/>
          </p:nvSpPr>
          <p:spPr>
            <a:xfrm>
              <a:off x="5279446" y="223006"/>
              <a:ext cx="1493100" cy="225086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C18A5C-9C4A-BAF3-0688-481D45B892D0}"/>
                </a:ext>
              </a:extLst>
            </p:cNvPr>
            <p:cNvSpPr/>
            <p:nvPr/>
          </p:nvSpPr>
          <p:spPr>
            <a:xfrm>
              <a:off x="5279446" y="448092"/>
              <a:ext cx="1493100" cy="225086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A5338C-89F2-2BB7-59A1-9A5CA3AE96A5}"/>
                </a:ext>
              </a:extLst>
            </p:cNvPr>
            <p:cNvSpPr/>
            <p:nvPr/>
          </p:nvSpPr>
          <p:spPr>
            <a:xfrm>
              <a:off x="5279445" y="671098"/>
              <a:ext cx="1493100" cy="225086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1E8B65-2649-6643-1301-8DE39597E859}"/>
                </a:ext>
              </a:extLst>
            </p:cNvPr>
            <p:cNvSpPr/>
            <p:nvPr/>
          </p:nvSpPr>
          <p:spPr>
            <a:xfrm>
              <a:off x="5279444" y="896344"/>
              <a:ext cx="1493100" cy="225086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04FDFD-F628-003D-8B43-4249C5B51A6D}"/>
              </a:ext>
            </a:extLst>
          </p:cNvPr>
          <p:cNvGrpSpPr/>
          <p:nvPr userDrawn="1"/>
        </p:nvGrpSpPr>
        <p:grpSpPr>
          <a:xfrm>
            <a:off x="2122715" y="566616"/>
            <a:ext cx="2144480" cy="1703600"/>
            <a:chOff x="6770915" y="5295"/>
            <a:chExt cx="2363830" cy="17036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5FD9AE-983D-9734-49E5-C8768A88B551}"/>
                </a:ext>
              </a:extLst>
            </p:cNvPr>
            <p:cNvSpPr/>
            <p:nvPr/>
          </p:nvSpPr>
          <p:spPr>
            <a:xfrm>
              <a:off x="6770921" y="5295"/>
              <a:ext cx="2363824" cy="341274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585D902-8201-A6E6-9737-D8026949B4C2}"/>
                </a:ext>
              </a:extLst>
            </p:cNvPr>
            <p:cNvSpPr/>
            <p:nvPr/>
          </p:nvSpPr>
          <p:spPr>
            <a:xfrm>
              <a:off x="6770921" y="346754"/>
              <a:ext cx="2363824" cy="341274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8C3BF7C-541C-CC6C-BF88-014EFB506C37}"/>
                </a:ext>
              </a:extLst>
            </p:cNvPr>
            <p:cNvSpPr/>
            <p:nvPr/>
          </p:nvSpPr>
          <p:spPr>
            <a:xfrm>
              <a:off x="6770921" y="688028"/>
              <a:ext cx="2363824" cy="341274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1FE648-D5EA-7709-3600-70DEC5ECB645}"/>
                </a:ext>
              </a:extLst>
            </p:cNvPr>
            <p:cNvSpPr/>
            <p:nvPr/>
          </p:nvSpPr>
          <p:spPr>
            <a:xfrm>
              <a:off x="6770918" y="1026347"/>
              <a:ext cx="2363824" cy="341274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4B262D2-CBAA-B893-21EC-ADBDCA85B291}"/>
                </a:ext>
              </a:extLst>
            </p:cNvPr>
            <p:cNvSpPr/>
            <p:nvPr/>
          </p:nvSpPr>
          <p:spPr>
            <a:xfrm>
              <a:off x="6770915" y="1367621"/>
              <a:ext cx="2363824" cy="341274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8FF3ACE-2EDC-C17C-0E63-50B8A305E974}"/>
              </a:ext>
            </a:extLst>
          </p:cNvPr>
          <p:cNvSpPr txBox="1"/>
          <p:nvPr userDrawn="1"/>
        </p:nvSpPr>
        <p:spPr>
          <a:xfrm>
            <a:off x="258557" y="1390378"/>
            <a:ext cx="4789714" cy="1325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en-US" sz="5000" b="0" dirty="0">
                <a:solidFill>
                  <a:schemeClr val="bg1"/>
                </a:solidFill>
              </a:rPr>
              <a:t>Go</a:t>
            </a:r>
            <a:r>
              <a:rPr lang="en-US" sz="5000" b="1" dirty="0">
                <a:solidFill>
                  <a:schemeClr val="bg1"/>
                </a:solidFill>
              </a:rPr>
              <a:t> Beyond</a:t>
            </a:r>
          </a:p>
          <a:p>
            <a:pPr>
              <a:lnSpc>
                <a:spcPts val="4500"/>
              </a:lnSpc>
            </a:pPr>
            <a:r>
              <a:rPr lang="en-US" sz="5000" b="1" dirty="0">
                <a:solidFill>
                  <a:schemeClr val="bg1"/>
                </a:solidFill>
              </a:rPr>
              <a:t>  Boundaries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2428C7-33A7-3C26-4B51-15FE5D3A298F}"/>
              </a:ext>
            </a:extLst>
          </p:cNvPr>
          <p:cNvGrpSpPr/>
          <p:nvPr userDrawn="1"/>
        </p:nvGrpSpPr>
        <p:grpSpPr>
          <a:xfrm>
            <a:off x="6389908" y="564416"/>
            <a:ext cx="2206037" cy="1286156"/>
            <a:chOff x="6973622" y="564415"/>
            <a:chExt cx="1622324" cy="104396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25F0E5B-63C6-29A8-3498-586E1A88888E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5E61023-286A-E99D-BA06-019201FFBC71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1F729B8-41FB-7D6D-AA5F-699CAE24EA9E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08F56B8-4679-BBC0-A8B1-E1FAD3E20DC3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54D6D76-8910-F782-7730-80F15F347E3A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C477982-DE41-4715-32B6-329DA7EBD574}"/>
              </a:ext>
            </a:extLst>
          </p:cNvPr>
          <p:cNvGrpSpPr/>
          <p:nvPr userDrawn="1"/>
        </p:nvGrpSpPr>
        <p:grpSpPr>
          <a:xfrm rot="10800000">
            <a:off x="3654040" y="3159388"/>
            <a:ext cx="2735872" cy="1442977"/>
            <a:chOff x="6973622" y="564415"/>
            <a:chExt cx="1622324" cy="104396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A7FD06F-0052-0A9F-B503-1335C9958AD0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199FDAA-2913-D6CC-B0D0-4BDFF8EC30A2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C93ACB9-44F4-4E0C-615A-EBB817B21066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03C0EAF-5379-0C3D-92BD-A268D884FFF6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3BDF492-7BD9-E9B6-502A-4E5B619AE947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924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nking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514CE09-BA96-869C-06C2-E09AF022505D}"/>
              </a:ext>
            </a:extLst>
          </p:cNvPr>
          <p:cNvGrpSpPr/>
          <p:nvPr userDrawn="1"/>
        </p:nvGrpSpPr>
        <p:grpSpPr>
          <a:xfrm>
            <a:off x="3727066" y="629836"/>
            <a:ext cx="5105880" cy="3865754"/>
            <a:chOff x="3727066" y="629836"/>
            <a:chExt cx="5105880" cy="38657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21F829-81E2-94FA-EE99-EE9F0C91862F}"/>
                </a:ext>
              </a:extLst>
            </p:cNvPr>
            <p:cNvGrpSpPr/>
            <p:nvPr/>
          </p:nvGrpSpPr>
          <p:grpSpPr>
            <a:xfrm>
              <a:off x="3727066" y="630558"/>
              <a:ext cx="1326037" cy="1854495"/>
              <a:chOff x="3727066" y="630558"/>
              <a:chExt cx="1326037" cy="1854495"/>
            </a:xfrm>
          </p:grpSpPr>
          <p:pic>
            <p:nvPicPr>
              <p:cNvPr id="25" name="Picture 24" descr="A map of the united kingdom&#10;&#10;Description automatically generated">
                <a:extLst>
                  <a:ext uri="{FF2B5EF4-FFF2-40B4-BE49-F238E27FC236}">
                    <a16:creationId xmlns:a16="http://schemas.microsoft.com/office/drawing/2014/main" id="{3B9C6297-D67D-91FD-B19E-BF4E4FAB5E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854041" y="889191"/>
                <a:ext cx="1080000" cy="108000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43E7B6-278A-7FAA-1FCA-DBFF0D1E0A2F}"/>
                  </a:ext>
                </a:extLst>
              </p:cNvPr>
              <p:cNvSpPr txBox="1"/>
              <p:nvPr/>
            </p:nvSpPr>
            <p:spPr>
              <a:xfrm>
                <a:off x="3727066" y="2000305"/>
                <a:ext cx="1326037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13th in the UK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in the Guardian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University Guide 2023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1E0A1FE-308D-84A6-FB83-26D4CBFFA63A}"/>
                  </a:ext>
                </a:extLst>
              </p:cNvPr>
              <p:cNvSpPr txBox="1"/>
              <p:nvPr/>
            </p:nvSpPr>
            <p:spPr>
              <a:xfrm>
                <a:off x="3774307" y="630558"/>
                <a:ext cx="12326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UK TOP 20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779D4CB-9C49-4DAC-9D38-127CEDADFAA1}"/>
                </a:ext>
              </a:extLst>
            </p:cNvPr>
            <p:cNvGrpSpPr/>
            <p:nvPr/>
          </p:nvGrpSpPr>
          <p:grpSpPr>
            <a:xfrm>
              <a:off x="5318315" y="630558"/>
              <a:ext cx="1517581" cy="1840060"/>
              <a:chOff x="5296193" y="630558"/>
              <a:chExt cx="1517581" cy="1840060"/>
            </a:xfrm>
          </p:grpSpPr>
          <p:pic>
            <p:nvPicPr>
              <p:cNvPr id="22" name="Picture 21" descr="A white earth with a black background&#10;&#10;Description automatically generated">
                <a:extLst>
                  <a:ext uri="{FF2B5EF4-FFF2-40B4-BE49-F238E27FC236}">
                    <a16:creationId xmlns:a16="http://schemas.microsoft.com/office/drawing/2014/main" id="{33609F23-6D4C-9DB2-952E-85E913C81F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12855" y="889191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B632600-EC44-A992-54AD-38CA533DC20E}"/>
                  </a:ext>
                </a:extLst>
              </p:cNvPr>
              <p:cNvSpPr txBox="1"/>
              <p:nvPr/>
            </p:nvSpPr>
            <p:spPr>
              <a:xfrm>
                <a:off x="5303446" y="1985870"/>
                <a:ext cx="1492219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192</a:t>
                </a:r>
                <a:r>
                  <a:rPr lang="en-GB" sz="850" baseline="30000" dirty="0">
                    <a:solidFill>
                      <a:schemeClr val="bg1"/>
                    </a:solidFill>
                    <a:effectLst/>
                    <a:latin typeface="+mn-lt"/>
                  </a:rPr>
                  <a:t>nd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 in the world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in the 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Times Higher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Education Ranking 2023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9FC7AC-7B31-7DF1-32B3-6FDC9753D5A3}"/>
                  </a:ext>
                </a:extLst>
              </p:cNvPr>
              <p:cNvSpPr txBox="1"/>
              <p:nvPr/>
            </p:nvSpPr>
            <p:spPr>
              <a:xfrm>
                <a:off x="5296193" y="630558"/>
                <a:ext cx="15175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WORLD TOP 200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20BDD0D-3978-C103-5757-EB20667CD071}"/>
                </a:ext>
              </a:extLst>
            </p:cNvPr>
            <p:cNvGrpSpPr/>
            <p:nvPr/>
          </p:nvGrpSpPr>
          <p:grpSpPr>
            <a:xfrm>
              <a:off x="6788941" y="629836"/>
              <a:ext cx="2044005" cy="1840782"/>
              <a:chOff x="6788941" y="629836"/>
              <a:chExt cx="2044005" cy="1840782"/>
            </a:xfrm>
          </p:grpSpPr>
          <p:pic>
            <p:nvPicPr>
              <p:cNvPr id="19" name="Picture 18" descr="A hand with a thumb up in a circle&#10;&#10;Description automatically generated">
                <a:extLst>
                  <a:ext uri="{FF2B5EF4-FFF2-40B4-BE49-F238E27FC236}">
                    <a16:creationId xmlns:a16="http://schemas.microsoft.com/office/drawing/2014/main" id="{AD3F13E7-FD2E-FE1C-1618-D828D2DC63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274223" y="886352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3425E9-7E60-44F3-E9E5-C2134B7306D5}"/>
                  </a:ext>
                </a:extLst>
              </p:cNvPr>
              <p:cNvSpPr txBox="1"/>
              <p:nvPr/>
            </p:nvSpPr>
            <p:spPr>
              <a:xfrm>
                <a:off x="6788941" y="1985870"/>
                <a:ext cx="2044005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2</a:t>
                </a:r>
                <a:r>
                  <a:rPr lang="en-GB" sz="850" baseline="30000" dirty="0">
                    <a:solidFill>
                      <a:schemeClr val="bg1"/>
                    </a:solidFill>
                    <a:effectLst/>
                    <a:latin typeface="+mn-lt"/>
                  </a:rPr>
                  <a:t>nd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 in Scotland, Wales and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N Ireland for student satisfaction in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the 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National Student Survey 2023</a:t>
                </a:r>
                <a:endParaRPr lang="en-GB" sz="850" dirty="0"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2745DA-2DDE-8A8C-56F2-1E1D1AE73057}"/>
                  </a:ext>
                </a:extLst>
              </p:cNvPr>
              <p:cNvSpPr txBox="1"/>
              <p:nvPr/>
            </p:nvSpPr>
            <p:spPr>
              <a:xfrm>
                <a:off x="7056783" y="629836"/>
                <a:ext cx="15175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SATISFACTION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2ACEF33-44DF-8D8C-0D7A-6885B07C60C4}"/>
                </a:ext>
              </a:extLst>
            </p:cNvPr>
            <p:cNvGrpSpPr/>
            <p:nvPr/>
          </p:nvGrpSpPr>
          <p:grpSpPr>
            <a:xfrm>
              <a:off x="4094921" y="2675918"/>
              <a:ext cx="2244979" cy="1819672"/>
              <a:chOff x="4068187" y="2698040"/>
              <a:chExt cx="2244979" cy="1819672"/>
            </a:xfrm>
          </p:grpSpPr>
          <p:pic>
            <p:nvPicPr>
              <p:cNvPr id="16" name="Picture 15" descr="A white line drawing of a plant with arrows&#10;&#10;Description automatically generated">
                <a:extLst>
                  <a:ext uri="{FF2B5EF4-FFF2-40B4-BE49-F238E27FC236}">
                    <a16:creationId xmlns:a16="http://schemas.microsoft.com/office/drawing/2014/main" id="{A91BCF96-9F72-768D-AA87-C65D8DCDD0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649327" y="2942378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702396-D501-726B-6B55-1918BE76DDBF}"/>
                  </a:ext>
                </a:extLst>
              </p:cNvPr>
              <p:cNvSpPr txBox="1"/>
              <p:nvPr/>
            </p:nvSpPr>
            <p:spPr>
              <a:xfrm>
                <a:off x="4068187" y="4032964"/>
                <a:ext cx="2244979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2nd in the UK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for Sustainable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Education in the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OS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Sustainability Rankings 2023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D3F90E-9415-273B-9F01-6B856ACE12F8}"/>
                  </a:ext>
                </a:extLst>
              </p:cNvPr>
              <p:cNvSpPr txBox="1"/>
              <p:nvPr/>
            </p:nvSpPr>
            <p:spPr>
              <a:xfrm>
                <a:off x="4431886" y="2698040"/>
                <a:ext cx="15175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SUSTAINABILITY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C2BEA59-7B62-D435-8388-26A4BD9197FB}"/>
                </a:ext>
              </a:extLst>
            </p:cNvPr>
            <p:cNvGrpSpPr/>
            <p:nvPr/>
          </p:nvGrpSpPr>
          <p:grpSpPr>
            <a:xfrm>
              <a:off x="6161039" y="2675761"/>
              <a:ext cx="1890374" cy="1819828"/>
              <a:chOff x="6043053" y="2697883"/>
              <a:chExt cx="1890374" cy="1819828"/>
            </a:xfrm>
          </p:grpSpPr>
          <p:pic>
            <p:nvPicPr>
              <p:cNvPr id="13" name="Picture 12" descr="A logo of a crown with a leaf&#10;&#10;Description automatically generated">
                <a:extLst>
                  <a:ext uri="{FF2B5EF4-FFF2-40B4-BE49-F238E27FC236}">
                    <a16:creationId xmlns:a16="http://schemas.microsoft.com/office/drawing/2014/main" id="{AE42587C-A166-2078-7B8A-827D0C7B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451382" y="2942378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6F7E28-68E0-85DC-4D0C-C2B36FFBAF5A}"/>
                  </a:ext>
                </a:extLst>
              </p:cNvPr>
              <p:cNvSpPr txBox="1"/>
              <p:nvPr/>
            </p:nvSpPr>
            <p:spPr>
              <a:xfrm>
                <a:off x="6043053" y="4032963"/>
                <a:ext cx="1890374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Queen's Anniversary Prize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for research and teaching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in Soil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Science in 2021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A745DA-8566-A311-5DDF-BB45B898466A}"/>
                  </a:ext>
                </a:extLst>
              </p:cNvPr>
              <p:cNvSpPr txBox="1"/>
              <p:nvPr/>
            </p:nvSpPr>
            <p:spPr>
              <a:xfrm>
                <a:off x="6233940" y="2697883"/>
                <a:ext cx="15175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AWARD-WINNING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0823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Commitments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99396-0193-15E2-0999-743BA5DA01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1346"/>
            <a:ext cx="2880035" cy="3432680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4ED55598-9E4C-4799-CAFF-F984B129BFD6}"/>
              </a:ext>
            </a:extLst>
          </p:cNvPr>
          <p:cNvGrpSpPr/>
          <p:nvPr userDrawn="1"/>
        </p:nvGrpSpPr>
        <p:grpSpPr>
          <a:xfrm>
            <a:off x="1436881" y="3294582"/>
            <a:ext cx="1622324" cy="1043961"/>
            <a:chOff x="1436881" y="3294582"/>
            <a:chExt cx="1622324" cy="104396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542A0A5-6C36-7B24-5BC9-B30236E699A7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4E52B1-2CE9-88D9-0C4A-15BFBA52B64F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8BA3A26-FBCE-1468-224F-C463D474ACF5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7692206-8547-96E9-F70B-CAF34DB0FF41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EC3F97-45AE-5D0A-D138-DAEC19E93664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A208B6A8-09B6-6B63-3825-0EC7588E98D3}"/>
              </a:ext>
            </a:extLst>
          </p:cNvPr>
          <p:cNvSpPr/>
          <p:nvPr/>
        </p:nvSpPr>
        <p:spPr>
          <a:xfrm>
            <a:off x="2854737" y="831643"/>
            <a:ext cx="1923393" cy="210174"/>
          </a:xfrm>
          <a:prstGeom prst="rect">
            <a:avLst/>
          </a:prstGeom>
          <a:solidFill>
            <a:srgbClr val="005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A593BB-761F-5A77-0842-0025488DEF5B}"/>
              </a:ext>
            </a:extLst>
          </p:cNvPr>
          <p:cNvSpPr/>
          <p:nvPr/>
        </p:nvSpPr>
        <p:spPr>
          <a:xfrm>
            <a:off x="2854737" y="1039875"/>
            <a:ext cx="1923393" cy="210174"/>
          </a:xfrm>
          <a:prstGeom prst="rect">
            <a:avLst/>
          </a:prstGeom>
          <a:solidFill>
            <a:srgbClr val="005BBE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575238-D78B-B687-3FEC-21494BB5C7EF}"/>
              </a:ext>
            </a:extLst>
          </p:cNvPr>
          <p:cNvSpPr/>
          <p:nvPr/>
        </p:nvSpPr>
        <p:spPr>
          <a:xfrm>
            <a:off x="2854737" y="1250049"/>
            <a:ext cx="1923393" cy="210174"/>
          </a:xfrm>
          <a:prstGeom prst="rect">
            <a:avLst/>
          </a:prstGeom>
          <a:solidFill>
            <a:srgbClr val="005BBE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47C3AE1-C98F-5C19-DBC3-AEB0CA7B2897}"/>
              </a:ext>
            </a:extLst>
          </p:cNvPr>
          <p:cNvSpPr/>
          <p:nvPr/>
        </p:nvSpPr>
        <p:spPr>
          <a:xfrm>
            <a:off x="2854736" y="1458281"/>
            <a:ext cx="1923393" cy="210174"/>
          </a:xfrm>
          <a:prstGeom prst="rect">
            <a:avLst/>
          </a:prstGeom>
          <a:solidFill>
            <a:srgbClr val="005BBE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4644305-1EA2-D606-8B47-EEF858F97279}"/>
              </a:ext>
            </a:extLst>
          </p:cNvPr>
          <p:cNvSpPr/>
          <p:nvPr/>
        </p:nvSpPr>
        <p:spPr>
          <a:xfrm>
            <a:off x="2854735" y="1668605"/>
            <a:ext cx="1923393" cy="210174"/>
          </a:xfrm>
          <a:prstGeom prst="rect">
            <a:avLst/>
          </a:prstGeom>
          <a:solidFill>
            <a:srgbClr val="005BBE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1996E15-E1F4-CB65-7CA3-87148CA46AD5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DF63502-78E0-FC0E-E2B2-9E61893CE4D8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005B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868D851-D5A4-EA11-9F9A-001642A84817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005BB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3F5CFD-B825-F0E2-0470-E8F31621422C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005BB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298BF61-8420-0BF4-8A30-6F861F86054C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005BB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C82DF77-FA60-75F4-5BD1-5DCC006843E3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005BB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51314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Inclus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DD088-2380-E231-BEC6-402661F62A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1575" y="831346"/>
            <a:ext cx="2880035" cy="343268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5A4E1DA0-F040-E6FE-D33D-6469E0CB9FC3}"/>
              </a:ext>
            </a:extLst>
          </p:cNvPr>
          <p:cNvGrpSpPr/>
          <p:nvPr userDrawn="1"/>
        </p:nvGrpSpPr>
        <p:grpSpPr>
          <a:xfrm>
            <a:off x="4569369" y="831643"/>
            <a:ext cx="1923395" cy="1047136"/>
            <a:chOff x="2854735" y="831643"/>
            <a:chExt cx="1923395" cy="10471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0750BC8-3750-9678-E6FD-FFDA1FB61596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F261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1B83B9-40C0-8407-4D20-E549D6D21879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F261B4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7F31FC-0FC1-F22F-13C8-8B074A6C6E5E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F261B4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BAC644-9BB7-376F-F04E-D08DEB5D19E4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F261B4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4AFE28-9BB1-98D3-C36C-6DC20337BC11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F261B4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800FDA1-7462-2F30-E7EF-69B3FFB9EC6C}"/>
              </a:ext>
            </a:extLst>
          </p:cNvPr>
          <p:cNvGrpSpPr/>
          <p:nvPr userDrawn="1"/>
        </p:nvGrpSpPr>
        <p:grpSpPr>
          <a:xfrm>
            <a:off x="6492762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6AED2F-4A7A-3327-559B-33F5591272C0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F261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C217BC-C96D-84EA-308D-ABEB8B665C61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F261B4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01CF5D-EC15-A507-351D-748B339544C9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F261B4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15B0C4-4AAF-9B98-B678-9C6A898EEDC0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F261B4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3374826-74BC-8C57-F484-A47F191E362C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F261B4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84ECCA-95CD-7590-6888-9C5F1FB6DD4E}"/>
              </a:ext>
            </a:extLst>
          </p:cNvPr>
          <p:cNvGrpSpPr/>
          <p:nvPr userDrawn="1"/>
        </p:nvGrpSpPr>
        <p:grpSpPr>
          <a:xfrm>
            <a:off x="6239286" y="3294582"/>
            <a:ext cx="1622324" cy="1043961"/>
            <a:chOff x="1436881" y="3294582"/>
            <a:chExt cx="1622324" cy="104396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698D838-D4E7-1D0E-37B6-5733F7EA1154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3923D7-9058-5108-9B9A-548C6FC14AB9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35B1E2-13FA-2999-7640-EABB2D7DBA54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BEFBFD6-973D-7CEC-99C5-E0A46370FFC9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B427D68-B263-BE7C-8302-C4F863429294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2341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Interdisciplin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A652B-756D-EAE5-270C-A7E13A259A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1346"/>
            <a:ext cx="2880035" cy="3432679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658B205-57B0-5A95-C135-581A9A3C9C0E}"/>
              </a:ext>
            </a:extLst>
          </p:cNvPr>
          <p:cNvGrpSpPr/>
          <p:nvPr userDrawn="1"/>
        </p:nvGrpSpPr>
        <p:grpSpPr>
          <a:xfrm>
            <a:off x="2854735" y="831643"/>
            <a:ext cx="1923395" cy="1047136"/>
            <a:chOff x="2854735" y="831643"/>
            <a:chExt cx="1923395" cy="10471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70405A-5A10-E32F-B1DF-9D6F85679E2B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FBDEDE2-3BB4-D61C-63FE-84E0C9BDD2E3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C56CF3-95D3-FA3C-9EA8-36872A2147C6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D4FBF6-3419-0E49-1BE3-7B8C0CC71727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B44D22-A455-1F5F-8356-5830C844E0CC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04495B9-B632-AF69-47C6-B15A4A6930C4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F184E5-D263-E208-9BD9-CBF7B26B3EE5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68C379-F895-F40E-6ADB-F97551889EB7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5FA9BA-1755-7CD0-E230-AB4C22B9585E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F46940-B6F5-CBEF-57DC-0EF2C8D40898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12F2A5-6821-3BB1-0048-FCBEB3D5EAED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2CAF25-B409-659B-7E08-474F8EF3CE25}"/>
              </a:ext>
            </a:extLst>
          </p:cNvPr>
          <p:cNvGrpSpPr/>
          <p:nvPr userDrawn="1"/>
        </p:nvGrpSpPr>
        <p:grpSpPr>
          <a:xfrm>
            <a:off x="1474981" y="3294582"/>
            <a:ext cx="1622324" cy="1043961"/>
            <a:chOff x="1436881" y="3294582"/>
            <a:chExt cx="1622324" cy="104396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155C39-FB34-988C-30AA-45BEDB7CFE40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D09629-53F5-A463-B12B-D180C1BE1498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852152A-C23C-90A8-F3EE-F22AAF95E75C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8352A3-0827-D052-1312-AFAEF5A29FB8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E2E423-8FD9-E581-A71E-37FC76DF234F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2365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Internati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FDA6F7-E086-E889-501C-0CD0F3FF16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4" y="831346"/>
            <a:ext cx="2880035" cy="343267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C6B5B56-5008-B84B-7015-48CD599CDB74}"/>
              </a:ext>
            </a:extLst>
          </p:cNvPr>
          <p:cNvSpPr/>
          <p:nvPr/>
        </p:nvSpPr>
        <p:spPr>
          <a:xfrm>
            <a:off x="2854737" y="831643"/>
            <a:ext cx="1923393" cy="210174"/>
          </a:xfrm>
          <a:prstGeom prst="rect">
            <a:avLst/>
          </a:prstGeom>
          <a:solidFill>
            <a:srgbClr val="FF8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3D534-4CD2-F0E4-6ABC-990C9A709645}"/>
              </a:ext>
            </a:extLst>
          </p:cNvPr>
          <p:cNvSpPr/>
          <p:nvPr/>
        </p:nvSpPr>
        <p:spPr>
          <a:xfrm>
            <a:off x="2854737" y="1039875"/>
            <a:ext cx="1923393" cy="210174"/>
          </a:xfrm>
          <a:prstGeom prst="rect">
            <a:avLst/>
          </a:prstGeom>
          <a:solidFill>
            <a:srgbClr val="FF8048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053EDE-2033-558C-06CC-8E9EF6748D3F}"/>
              </a:ext>
            </a:extLst>
          </p:cNvPr>
          <p:cNvSpPr/>
          <p:nvPr/>
        </p:nvSpPr>
        <p:spPr>
          <a:xfrm>
            <a:off x="2854737" y="1250049"/>
            <a:ext cx="1923393" cy="210174"/>
          </a:xfrm>
          <a:prstGeom prst="rect">
            <a:avLst/>
          </a:prstGeom>
          <a:solidFill>
            <a:srgbClr val="FF8048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36B004-CBF5-2D40-E550-E1C90B9A3467}"/>
              </a:ext>
            </a:extLst>
          </p:cNvPr>
          <p:cNvSpPr/>
          <p:nvPr/>
        </p:nvSpPr>
        <p:spPr>
          <a:xfrm>
            <a:off x="2854736" y="1458281"/>
            <a:ext cx="1923393" cy="210174"/>
          </a:xfrm>
          <a:prstGeom prst="rect">
            <a:avLst/>
          </a:prstGeom>
          <a:solidFill>
            <a:srgbClr val="FF8048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BD37AB-71D3-202F-FCB6-CAAE444804F0}"/>
              </a:ext>
            </a:extLst>
          </p:cNvPr>
          <p:cNvSpPr/>
          <p:nvPr/>
        </p:nvSpPr>
        <p:spPr>
          <a:xfrm>
            <a:off x="2854735" y="1668605"/>
            <a:ext cx="1923393" cy="210174"/>
          </a:xfrm>
          <a:prstGeom prst="rect">
            <a:avLst/>
          </a:prstGeom>
          <a:solidFill>
            <a:srgbClr val="FF8048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BA61F2B-4069-59E7-CE74-DC7D83D957C1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49166A-1836-41AA-A68D-40D81C315122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FF80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455626-2347-B826-31AE-50B4C11B3347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FF8048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3E59CF-E332-772C-8C1B-0985798CA848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FF8048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5F94F4-CFC6-DD75-6597-10656F0A3A33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FF8048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FA27EE-3375-3FF1-1AEC-FAFB58A24FFA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FF8048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56FB9D4-7052-F0F1-982B-11548AB0D453}"/>
              </a:ext>
            </a:extLst>
          </p:cNvPr>
          <p:cNvSpPr/>
          <p:nvPr/>
        </p:nvSpPr>
        <p:spPr>
          <a:xfrm rot="10800000">
            <a:off x="1436881" y="4128369"/>
            <a:ext cx="1622322" cy="210174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2BBB8A-CB64-2A12-8EB4-33EE9B458BAB}"/>
              </a:ext>
            </a:extLst>
          </p:cNvPr>
          <p:cNvSpPr/>
          <p:nvPr/>
        </p:nvSpPr>
        <p:spPr>
          <a:xfrm rot="10800000">
            <a:off x="1436881" y="3920137"/>
            <a:ext cx="1622322" cy="210174"/>
          </a:xfrm>
          <a:prstGeom prst="rect">
            <a:avLst/>
          </a:prstGeom>
          <a:solidFill>
            <a:srgbClr val="00374E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826A63-0E3D-171C-CE2C-D9DB93CC6D17}"/>
              </a:ext>
            </a:extLst>
          </p:cNvPr>
          <p:cNvSpPr/>
          <p:nvPr/>
        </p:nvSpPr>
        <p:spPr>
          <a:xfrm rot="10800000">
            <a:off x="1436881" y="3709963"/>
            <a:ext cx="1622322" cy="210174"/>
          </a:xfrm>
          <a:prstGeom prst="rect">
            <a:avLst/>
          </a:prstGeom>
          <a:solidFill>
            <a:srgbClr val="00374E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585883-AE07-E8EE-6709-A943C07C23EE}"/>
              </a:ext>
            </a:extLst>
          </p:cNvPr>
          <p:cNvSpPr/>
          <p:nvPr/>
        </p:nvSpPr>
        <p:spPr>
          <a:xfrm rot="10800000">
            <a:off x="1436882" y="3501731"/>
            <a:ext cx="1622322" cy="210174"/>
          </a:xfrm>
          <a:prstGeom prst="rect">
            <a:avLst/>
          </a:prstGeom>
          <a:solidFill>
            <a:srgbClr val="00374E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1767ED-65D0-1A18-BBE0-C036C3F4CD20}"/>
              </a:ext>
            </a:extLst>
          </p:cNvPr>
          <p:cNvSpPr/>
          <p:nvPr/>
        </p:nvSpPr>
        <p:spPr>
          <a:xfrm rot="10800000">
            <a:off x="1436883" y="3294582"/>
            <a:ext cx="1622322" cy="210174"/>
          </a:xfrm>
          <a:prstGeom prst="rect">
            <a:avLst/>
          </a:prstGeom>
          <a:solidFill>
            <a:srgbClr val="00374E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74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Sustain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42F75C-AFAE-D11D-C0ED-28B3467E34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06"/>
          <a:stretch/>
        </p:blipFill>
        <p:spPr>
          <a:xfrm>
            <a:off x="4972825" y="831346"/>
            <a:ext cx="2887469" cy="343267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2B90A9C-A8D0-C8B2-51D7-8A7D5BBDAA54}"/>
              </a:ext>
            </a:extLst>
          </p:cNvPr>
          <p:cNvGrpSpPr/>
          <p:nvPr userDrawn="1"/>
        </p:nvGrpSpPr>
        <p:grpSpPr>
          <a:xfrm>
            <a:off x="6667365" y="831643"/>
            <a:ext cx="1622323" cy="1047136"/>
            <a:chOff x="2854735" y="831643"/>
            <a:chExt cx="1923395" cy="104713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79EC5E8-7641-B4C1-EFD9-F7E6ADDBDD35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FBCB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CC0F15D-8865-E3AA-F338-0F1BB5F37035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FBCB3B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A36A56F-FAD0-D1BF-9BDF-9C7CD525CF92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FBCB3B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EF8D0DA-92D7-4992-67C8-4A60E186434B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FBCB3B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ED0655A-E191-6F90-30BB-37FC62958B3C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FBCB3B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6BCCD1D-A4F1-300A-F2EA-5DFB7F5E72C4}"/>
              </a:ext>
            </a:extLst>
          </p:cNvPr>
          <p:cNvGrpSpPr/>
          <p:nvPr userDrawn="1"/>
        </p:nvGrpSpPr>
        <p:grpSpPr>
          <a:xfrm>
            <a:off x="5838495" y="754744"/>
            <a:ext cx="828870" cy="622088"/>
            <a:chOff x="6492762" y="711200"/>
            <a:chExt cx="828870" cy="62208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DACF6B4-C6F1-04A7-A1A5-3358117EF7C1}"/>
                </a:ext>
              </a:extLst>
            </p:cNvPr>
            <p:cNvSpPr/>
            <p:nvPr/>
          </p:nvSpPr>
          <p:spPr>
            <a:xfrm>
              <a:off x="6492764" y="711200"/>
              <a:ext cx="828868" cy="125256"/>
            </a:xfrm>
            <a:prstGeom prst="rect">
              <a:avLst/>
            </a:prstGeom>
            <a:solidFill>
              <a:srgbClr val="FBCB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C5EB085-1501-1EC8-D7D4-A6B562D9D061}"/>
                </a:ext>
              </a:extLst>
            </p:cNvPr>
            <p:cNvSpPr/>
            <p:nvPr/>
          </p:nvSpPr>
          <p:spPr>
            <a:xfrm>
              <a:off x="6492764" y="834514"/>
              <a:ext cx="828868" cy="125256"/>
            </a:xfrm>
            <a:prstGeom prst="rect">
              <a:avLst/>
            </a:prstGeom>
            <a:solidFill>
              <a:srgbClr val="FBCB3B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1BCF98D-43F1-DE37-BB76-2400C13B35C9}"/>
                </a:ext>
              </a:extLst>
            </p:cNvPr>
            <p:cNvSpPr/>
            <p:nvPr/>
          </p:nvSpPr>
          <p:spPr>
            <a:xfrm>
              <a:off x="6492764" y="959770"/>
              <a:ext cx="828868" cy="125256"/>
            </a:xfrm>
            <a:prstGeom prst="rect">
              <a:avLst/>
            </a:prstGeom>
            <a:solidFill>
              <a:srgbClr val="FBCB3B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9F0EF1E-24FF-260E-C6BE-39B3815F8158}"/>
                </a:ext>
              </a:extLst>
            </p:cNvPr>
            <p:cNvSpPr/>
            <p:nvPr/>
          </p:nvSpPr>
          <p:spPr>
            <a:xfrm>
              <a:off x="6492763" y="1082776"/>
              <a:ext cx="828868" cy="125256"/>
            </a:xfrm>
            <a:prstGeom prst="rect">
              <a:avLst/>
            </a:prstGeom>
            <a:solidFill>
              <a:srgbClr val="FBCB3B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AC5CD3-C567-52A4-CAE3-543918012470}"/>
                </a:ext>
              </a:extLst>
            </p:cNvPr>
            <p:cNvSpPr/>
            <p:nvPr/>
          </p:nvSpPr>
          <p:spPr>
            <a:xfrm>
              <a:off x="6492762" y="1208032"/>
              <a:ext cx="828868" cy="125256"/>
            </a:xfrm>
            <a:prstGeom prst="rect">
              <a:avLst/>
            </a:prstGeom>
            <a:solidFill>
              <a:srgbClr val="FBCB3B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920827D-6807-040A-ABC1-65559A21E07D}"/>
              </a:ext>
            </a:extLst>
          </p:cNvPr>
          <p:cNvGrpSpPr/>
          <p:nvPr userDrawn="1"/>
        </p:nvGrpSpPr>
        <p:grpSpPr>
          <a:xfrm>
            <a:off x="6252929" y="3315525"/>
            <a:ext cx="1622324" cy="1043961"/>
            <a:chOff x="1436881" y="3294582"/>
            <a:chExt cx="1622324" cy="104396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C34D72E-BCE5-FFBD-5E1D-B18C24DC4348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B8D7C93-9EAA-83D2-4D47-2610B872F304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C423FDD-7139-7434-6566-53EAAB331D45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47D7794-2B43-826D-94D8-50AEC9DA5C0D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573849E-F1FB-CEBB-1820-F3345812FCDC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4098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DD47940-9C71-4E34-0673-47A4692B8CA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7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4E8BEA-C335-69C6-38F0-2C58EA6834CE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9" name="Picture 48" descr="University of Aberdeen Logo">
            <a:extLst>
              <a:ext uri="{FF2B5EF4-FFF2-40B4-BE49-F238E27FC236}">
                <a16:creationId xmlns:a16="http://schemas.microsoft.com/office/drawing/2014/main" id="{8788D448-90AE-367D-8157-E455BA5A0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0" name="Picture 49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B045225-84D9-CFAA-AC3D-0E364EECB4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pic>
        <p:nvPicPr>
          <p:cNvPr id="46" name="Picture 45" descr="Green lights in the sky&#10;&#10;Description automatically generated">
            <a:extLst>
              <a:ext uri="{FF2B5EF4-FFF2-40B4-BE49-F238E27FC236}">
                <a16:creationId xmlns:a16="http://schemas.microsoft.com/office/drawing/2014/main" id="{0593E3A0-8B56-75EA-0977-489E6C6493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3531" y="551536"/>
            <a:ext cx="6041821" cy="40387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ACCF8A-ECFE-B2C7-0A4D-3D95067EE32D}"/>
              </a:ext>
            </a:extLst>
          </p:cNvPr>
          <p:cNvSpPr/>
          <p:nvPr/>
        </p:nvSpPr>
        <p:spPr>
          <a:xfrm>
            <a:off x="4631423" y="551536"/>
            <a:ext cx="1964066" cy="225086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4067AF-2D18-8513-71EE-53994F7B9B4D}"/>
              </a:ext>
            </a:extLst>
          </p:cNvPr>
          <p:cNvSpPr/>
          <p:nvPr/>
        </p:nvSpPr>
        <p:spPr>
          <a:xfrm>
            <a:off x="4631426" y="774542"/>
            <a:ext cx="1964066" cy="225086"/>
          </a:xfrm>
          <a:prstGeom prst="rect">
            <a:avLst/>
          </a:prstGeom>
          <a:solidFill>
            <a:srgbClr val="00A18C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5392FF-C132-F5EA-155E-E00C3196C451}"/>
              </a:ext>
            </a:extLst>
          </p:cNvPr>
          <p:cNvSpPr/>
          <p:nvPr/>
        </p:nvSpPr>
        <p:spPr>
          <a:xfrm>
            <a:off x="4631425" y="999628"/>
            <a:ext cx="1964066" cy="225086"/>
          </a:xfrm>
          <a:prstGeom prst="rect">
            <a:avLst/>
          </a:prstGeom>
          <a:solidFill>
            <a:srgbClr val="00A18C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3641C3-12DA-DC45-25A9-4429FD9A7EA1}"/>
              </a:ext>
            </a:extLst>
          </p:cNvPr>
          <p:cNvSpPr/>
          <p:nvPr/>
        </p:nvSpPr>
        <p:spPr>
          <a:xfrm>
            <a:off x="4631422" y="1222634"/>
            <a:ext cx="1964066" cy="225086"/>
          </a:xfrm>
          <a:prstGeom prst="rect">
            <a:avLst/>
          </a:prstGeom>
          <a:solidFill>
            <a:srgbClr val="00A18C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813C0A-A98A-E9D2-398E-28367C9C61AF}"/>
              </a:ext>
            </a:extLst>
          </p:cNvPr>
          <p:cNvSpPr/>
          <p:nvPr/>
        </p:nvSpPr>
        <p:spPr>
          <a:xfrm>
            <a:off x="4631422" y="1447880"/>
            <a:ext cx="1964066" cy="225086"/>
          </a:xfrm>
          <a:prstGeom prst="rect">
            <a:avLst/>
          </a:prstGeom>
          <a:solidFill>
            <a:srgbClr val="00A18C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72F5CB5-DE41-826D-3EC7-8248E970611B}"/>
              </a:ext>
            </a:extLst>
          </p:cNvPr>
          <p:cNvGrpSpPr/>
          <p:nvPr userDrawn="1"/>
        </p:nvGrpSpPr>
        <p:grpSpPr>
          <a:xfrm>
            <a:off x="6594588" y="551536"/>
            <a:ext cx="1995116" cy="1706775"/>
            <a:chOff x="6599452" y="551536"/>
            <a:chExt cx="1995116" cy="17067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DF56D52-48E1-9A59-5ACB-642D771EE065}"/>
                </a:ext>
              </a:extLst>
            </p:cNvPr>
            <p:cNvSpPr/>
            <p:nvPr/>
          </p:nvSpPr>
          <p:spPr>
            <a:xfrm>
              <a:off x="6599457" y="551536"/>
              <a:ext cx="1995111" cy="341274"/>
            </a:xfrm>
            <a:prstGeom prst="rect">
              <a:avLst/>
            </a:prstGeom>
            <a:solidFill>
              <a:srgbClr val="00A1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ECCCA0-07C4-403F-F36D-C66C8984F514}"/>
                </a:ext>
              </a:extLst>
            </p:cNvPr>
            <p:cNvSpPr/>
            <p:nvPr/>
          </p:nvSpPr>
          <p:spPr>
            <a:xfrm>
              <a:off x="6599457" y="892995"/>
              <a:ext cx="1995111" cy="341274"/>
            </a:xfrm>
            <a:prstGeom prst="rect">
              <a:avLst/>
            </a:prstGeom>
            <a:solidFill>
              <a:srgbClr val="00A18C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42D6A1-0F76-2128-1CE3-E3094BB6E9D6}"/>
                </a:ext>
              </a:extLst>
            </p:cNvPr>
            <p:cNvSpPr/>
            <p:nvPr/>
          </p:nvSpPr>
          <p:spPr>
            <a:xfrm>
              <a:off x="6599457" y="1233344"/>
              <a:ext cx="1995111" cy="341274"/>
            </a:xfrm>
            <a:prstGeom prst="rect">
              <a:avLst/>
            </a:prstGeom>
            <a:solidFill>
              <a:srgbClr val="00A18C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8EC9345-70C5-B3BD-C941-EA066E190A30}"/>
                </a:ext>
              </a:extLst>
            </p:cNvPr>
            <p:cNvSpPr/>
            <p:nvPr/>
          </p:nvSpPr>
          <p:spPr>
            <a:xfrm>
              <a:off x="6599455" y="1575763"/>
              <a:ext cx="1995111" cy="341274"/>
            </a:xfrm>
            <a:prstGeom prst="rect">
              <a:avLst/>
            </a:prstGeom>
            <a:solidFill>
              <a:srgbClr val="00A1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B537455-7B84-7431-758D-2EDE1598EA8B}"/>
                </a:ext>
              </a:extLst>
            </p:cNvPr>
            <p:cNvSpPr/>
            <p:nvPr/>
          </p:nvSpPr>
          <p:spPr>
            <a:xfrm>
              <a:off x="6599452" y="1917037"/>
              <a:ext cx="1995111" cy="341274"/>
            </a:xfrm>
            <a:prstGeom prst="rect">
              <a:avLst/>
            </a:prstGeom>
            <a:solidFill>
              <a:srgbClr val="00A18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38C0B0-1145-4A58-EE13-7A236D15449C}"/>
              </a:ext>
            </a:extLst>
          </p:cNvPr>
          <p:cNvGrpSpPr/>
          <p:nvPr userDrawn="1"/>
        </p:nvGrpSpPr>
        <p:grpSpPr>
          <a:xfrm>
            <a:off x="547040" y="2811566"/>
            <a:ext cx="2001609" cy="1778674"/>
            <a:chOff x="1436881" y="3294582"/>
            <a:chExt cx="1622324" cy="104396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7D3523-541F-3365-D794-2ED810BED96A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1427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2F00AFC-306C-46E6-18C8-4763F3B4E521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14273D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37F71C2-197A-B4BE-C1F1-1DB3FEBCAE3E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14273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456DF7B-C689-A66D-48A8-94B67BF4FFEF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14273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D028F9-3CC9-27C2-F0D7-7847603D878E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14273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8AAF58B-C320-999A-374C-1E570E0FB41A}"/>
              </a:ext>
            </a:extLst>
          </p:cNvPr>
          <p:cNvGrpSpPr/>
          <p:nvPr userDrawn="1"/>
        </p:nvGrpSpPr>
        <p:grpSpPr>
          <a:xfrm>
            <a:off x="2548782" y="3711052"/>
            <a:ext cx="2020043" cy="879188"/>
            <a:chOff x="1436881" y="3294582"/>
            <a:chExt cx="1622324" cy="104396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DA8EC87-E805-DDF6-FE3A-F3C45069CD86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1427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56C5F8F-6DBF-F3F5-3220-6B8B7AAD903D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14273D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2BF0502-B606-1063-2FB9-36CAFE1FCE06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14273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059B8ED-214B-91D0-602C-EC29659F3DE3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14273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4F7E03A-51BC-D4A2-51DE-F86CA8BD249B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14273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CF6AF55-0A72-82E0-3D92-8697C77C2731}"/>
              </a:ext>
            </a:extLst>
          </p:cNvPr>
          <p:cNvSpPr/>
          <p:nvPr/>
        </p:nvSpPr>
        <p:spPr>
          <a:xfrm>
            <a:off x="2587361" y="551774"/>
            <a:ext cx="2044299" cy="106956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ACE5915-CD0C-4416-32B3-59031C890729}"/>
              </a:ext>
            </a:extLst>
          </p:cNvPr>
          <p:cNvSpPr/>
          <p:nvPr/>
        </p:nvSpPr>
        <p:spPr>
          <a:xfrm>
            <a:off x="2587361" y="657742"/>
            <a:ext cx="2044299" cy="106956"/>
          </a:xfrm>
          <a:prstGeom prst="rect">
            <a:avLst/>
          </a:prstGeom>
          <a:solidFill>
            <a:srgbClr val="00A18C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61A6EC-CA1E-D068-3B76-A28854F3E7BC}"/>
              </a:ext>
            </a:extLst>
          </p:cNvPr>
          <p:cNvSpPr/>
          <p:nvPr/>
        </p:nvSpPr>
        <p:spPr>
          <a:xfrm>
            <a:off x="2587361" y="764698"/>
            <a:ext cx="2044299" cy="106956"/>
          </a:xfrm>
          <a:prstGeom prst="rect">
            <a:avLst/>
          </a:prstGeom>
          <a:solidFill>
            <a:srgbClr val="00A18C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027E81-796B-4C92-5908-DFAA1EEB101D}"/>
              </a:ext>
            </a:extLst>
          </p:cNvPr>
          <p:cNvSpPr/>
          <p:nvPr/>
        </p:nvSpPr>
        <p:spPr>
          <a:xfrm>
            <a:off x="2587359" y="870665"/>
            <a:ext cx="2044299" cy="106956"/>
          </a:xfrm>
          <a:prstGeom prst="rect">
            <a:avLst/>
          </a:prstGeom>
          <a:solidFill>
            <a:srgbClr val="00A18C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7794C8-FB78-7F55-59EC-B4A97B9B9778}"/>
              </a:ext>
            </a:extLst>
          </p:cNvPr>
          <p:cNvSpPr/>
          <p:nvPr/>
        </p:nvSpPr>
        <p:spPr>
          <a:xfrm>
            <a:off x="2587358" y="977697"/>
            <a:ext cx="2044299" cy="106956"/>
          </a:xfrm>
          <a:prstGeom prst="rect">
            <a:avLst/>
          </a:prstGeom>
          <a:solidFill>
            <a:srgbClr val="00A18C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3F05CA4-8EAE-D283-CAEA-706C862A1E42}"/>
              </a:ext>
            </a:extLst>
          </p:cNvPr>
          <p:cNvSpPr txBox="1"/>
          <p:nvPr userDrawn="1"/>
        </p:nvSpPr>
        <p:spPr>
          <a:xfrm>
            <a:off x="4063077" y="1386737"/>
            <a:ext cx="478971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5000"/>
              </a:lnSpc>
            </a:pPr>
            <a:r>
              <a:rPr lang="en-US" sz="4800" b="0" dirty="0">
                <a:solidFill>
                  <a:schemeClr val="bg1"/>
                </a:solidFill>
              </a:rPr>
              <a:t>Ready to start</a:t>
            </a:r>
            <a:r>
              <a:rPr lang="en-US" sz="4800" b="1" dirty="0">
                <a:solidFill>
                  <a:schemeClr val="bg1"/>
                </a:solidFill>
              </a:rPr>
              <a:t> breaking boundaries?</a:t>
            </a:r>
          </a:p>
        </p:txBody>
      </p:sp>
    </p:spTree>
    <p:extLst>
      <p:ext uri="{BB962C8B-B14F-4D97-AF65-F5344CB8AC3E}">
        <p14:creationId xmlns:p14="http://schemas.microsoft.com/office/powerpoint/2010/main" val="869802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9486FD-B969-7B6D-7C1D-028FDFB7F86C}"/>
              </a:ext>
            </a:extLst>
          </p:cNvPr>
          <p:cNvSpPr/>
          <p:nvPr userDrawn="1"/>
        </p:nvSpPr>
        <p:spPr>
          <a:xfrm>
            <a:off x="0" y="-532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0092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007C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7" y="901106"/>
            <a:ext cx="1493100" cy="225086"/>
          </a:xfrm>
          <a:prstGeom prst="rect">
            <a:avLst/>
          </a:prstGeom>
          <a:solidFill>
            <a:srgbClr val="004D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0092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007C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64953"/>
            <a:ext cx="2363824" cy="341274"/>
          </a:xfrm>
          <a:prstGeom prst="rect">
            <a:avLst/>
          </a:prstGeom>
          <a:solidFill>
            <a:srgbClr val="004D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8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9C0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850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6613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3E21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3923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9C0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8A06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710F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511B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64953"/>
            <a:ext cx="2363824" cy="341274"/>
          </a:xfrm>
          <a:prstGeom prst="rect">
            <a:avLst/>
          </a:prstGeom>
          <a:solidFill>
            <a:srgbClr val="3923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38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532E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472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363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113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532E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472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363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58514"/>
            <a:ext cx="2363824" cy="341274"/>
          </a:xfrm>
          <a:prstGeom prst="rect">
            <a:avLst/>
          </a:prstGeom>
          <a:solidFill>
            <a:srgbClr val="113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52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005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005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004E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0045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003F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005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005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004E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0045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58514"/>
            <a:ext cx="2363824" cy="341274"/>
          </a:xfrm>
          <a:prstGeom prst="rect">
            <a:avLst/>
          </a:prstGeom>
          <a:solidFill>
            <a:srgbClr val="003F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76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E0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BF2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9230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5933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2E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E0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BF2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9230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5933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58514"/>
            <a:ext cx="2363824" cy="341274"/>
          </a:xfrm>
          <a:prstGeom prst="rect">
            <a:avLst/>
          </a:prstGeom>
          <a:solidFill>
            <a:srgbClr val="2E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0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9486FD-B969-7B6D-7C1D-028FDFB7F86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43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60ABF9-46A9-53BA-AC99-BC1AA966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D6575-8A07-FE37-0B76-C9E93BB8E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E87A3-1234-024A-D4B3-1829CCB8A4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52A69-D932-6F46-A363-34C6163FF4A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1CE47-B14C-BE9D-47BE-DCCE2C7B1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2C228-D442-5CA9-8D5F-7D09FAA47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3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4B">
            <a:alpha val="14902"/>
          </a:srgbClr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17977C-C5F4-5194-A70C-943AED2D9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261582" y="4530600"/>
            <a:ext cx="1241999" cy="3394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A9DC41-E75D-5679-8D20-E469797D3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236" y="4760061"/>
            <a:ext cx="1127183" cy="158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1A06C3-6AAF-9117-FF9D-E2A04ED58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81" y="273476"/>
            <a:ext cx="1509300" cy="13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977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667" r:id="rId10"/>
    <p:sldLayoutId id="2147483689" r:id="rId11"/>
    <p:sldLayoutId id="2147483691" r:id="rId12"/>
    <p:sldLayoutId id="2147483690" r:id="rId13"/>
    <p:sldLayoutId id="2147483688" r:id="rId14"/>
    <p:sldLayoutId id="2147483682" r:id="rId15"/>
    <p:sldLayoutId id="2147483670" r:id="rId16"/>
    <p:sldLayoutId id="2147483671" r:id="rId17"/>
    <p:sldLayoutId id="2147483673" r:id="rId18"/>
    <p:sldLayoutId id="2147483674" r:id="rId19"/>
    <p:sldLayoutId id="2147483675" r:id="rId20"/>
    <p:sldLayoutId id="2147483681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683" r:id="rId2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E434B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65096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F1449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png"/><Relationship Id="rId4" Type="http://schemas.openxmlformats.org/officeDocument/2006/relationships/image" Target="../media/image4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4.gif"/><Relationship Id="rId4" Type="http://schemas.openxmlformats.org/officeDocument/2006/relationships/image" Target="../media/image43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0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image" Target="../media/image52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1.gif"/><Relationship Id="rId5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4.emf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3.png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5.png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9.emf"/><Relationship Id="rId5" Type="http://schemas.openxmlformats.org/officeDocument/2006/relationships/image" Target="../media/image78.png"/><Relationship Id="rId4" Type="http://schemas.openxmlformats.org/officeDocument/2006/relationships/image" Target="../media/image6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E89A7-476F-2BC0-ADB2-3B9D8B7D294B}"/>
              </a:ext>
            </a:extLst>
          </p:cNvPr>
          <p:cNvSpPr txBox="1"/>
          <p:nvPr/>
        </p:nvSpPr>
        <p:spPr>
          <a:xfrm>
            <a:off x="1" y="561170"/>
            <a:ext cx="914399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Font typeface="Montserrat"/>
              <a:buNone/>
            </a:pP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PX5510/PX5518</a:t>
            </a: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Statistics and Time Series Analysis</a:t>
            </a: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algn="ctr"/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Time Series Analysis</a:t>
            </a: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2024-25 Term 2</a:t>
            </a:r>
          </a:p>
          <a:p>
            <a:pPr algn="ctr"/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Department of Physics</a:t>
            </a: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77555-379D-C787-E31A-37C8B77A9D4F}"/>
              </a:ext>
            </a:extLst>
          </p:cNvPr>
          <p:cNvSpPr txBox="1"/>
          <p:nvPr/>
        </p:nvSpPr>
        <p:spPr>
          <a:xfrm>
            <a:off x="963675" y="3591155"/>
            <a:ext cx="7558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Prof. M. Carmen Romano	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m.romano@abdn.ac.uk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	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Meston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 337</a:t>
            </a: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Dr Roland Young		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roland.young@abdn.ac.uk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	Fraser Noble 154</a:t>
            </a:r>
          </a:p>
        </p:txBody>
      </p:sp>
    </p:spTree>
    <p:extLst>
      <p:ext uri="{BB962C8B-B14F-4D97-AF65-F5344CB8AC3E}">
        <p14:creationId xmlns:p14="http://schemas.microsoft.com/office/powerpoint/2010/main" val="399567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4588-22F1-9175-5B2D-E5C5EF8BE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2D06A6A-5111-FFEB-FBD4-F35AD3106399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B1D43-371D-FA88-3654-870C06E614A1}"/>
              </a:ext>
            </a:extLst>
          </p:cNvPr>
          <p:cNvSpPr txBox="1">
            <a:spLocks/>
          </p:cNvSpPr>
          <p:nvPr/>
        </p:nvSpPr>
        <p:spPr>
          <a:xfrm>
            <a:off x="101991" y="1182919"/>
            <a:ext cx="8721645" cy="370898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dirty="0">
                <a:solidFill>
                  <a:schemeClr val="accent5"/>
                </a:solidFill>
              </a:rPr>
              <a:t>time series </a:t>
            </a:r>
            <a:r>
              <a:rPr lang="en-GB" sz="1600" dirty="0">
                <a:solidFill>
                  <a:schemeClr val="tx1"/>
                </a:solidFill>
              </a:rPr>
              <a:t>is a sequence of data points listed in time order, usually equally-spaced in time</a:t>
            </a:r>
          </a:p>
          <a:p>
            <a:pPr>
              <a:buClrTx/>
            </a:pPr>
            <a:endParaRPr lang="en-GB" sz="1600" i="1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Time is an independent variable and provides a </a:t>
            </a:r>
            <a:r>
              <a:rPr lang="en-GB" sz="1600" dirty="0">
                <a:solidFill>
                  <a:schemeClr val="accent5"/>
                </a:solidFill>
              </a:rPr>
              <a:t>natural temporal ordering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accent5"/>
                </a:solidFill>
              </a:rPr>
              <a:t>Time series analysis:</a:t>
            </a:r>
            <a:br>
              <a:rPr lang="en-GB" sz="1600" dirty="0">
                <a:solidFill>
                  <a:schemeClr val="accent2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Used to extract meaningful statistics and other characteristics from the data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accent5"/>
                </a:solidFill>
              </a:rPr>
              <a:t>Time series forecasting:</a:t>
            </a: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	Building a model to predict future values based on previously-observed values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Time series are typically characterised by </a:t>
            </a:r>
          </a:p>
          <a:p>
            <a:pPr>
              <a:buClrTx/>
            </a:pPr>
            <a:r>
              <a:rPr lang="en-GB" sz="1600" dirty="0">
                <a:solidFill>
                  <a:schemeClr val="accent5"/>
                </a:solidFill>
              </a:rPr>
              <a:t>trends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>
                <a:solidFill>
                  <a:schemeClr val="accent5"/>
                </a:solidFill>
              </a:rPr>
              <a:t>periodicities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>
                <a:solidFill>
                  <a:schemeClr val="accent5"/>
                </a:solidFill>
              </a:rPr>
              <a:t>seasonality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>
                <a:solidFill>
                  <a:schemeClr val="accent5"/>
                </a:solidFill>
              </a:rPr>
              <a:t>variability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>
                <a:solidFill>
                  <a:schemeClr val="accent5"/>
                </a:solidFill>
              </a:rPr>
              <a:t>noise</a:t>
            </a:r>
            <a:r>
              <a:rPr lang="en-GB" sz="1600" dirty="0">
                <a:solidFill>
                  <a:schemeClr val="tx1"/>
                </a:solidFill>
              </a:rPr>
              <a:t>, and </a:t>
            </a:r>
            <a:r>
              <a:rPr lang="en-GB" sz="1600" dirty="0">
                <a:solidFill>
                  <a:schemeClr val="accent5"/>
                </a:solidFill>
              </a:rPr>
              <a:t>chaos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13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53E44-6623-6646-376E-CD1DC2EB9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C3B40D6-A9A2-215D-2F68-4CD08D33AD49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733E3-1E6A-E6DE-1604-BAC32A98CC9F}"/>
              </a:ext>
            </a:extLst>
          </p:cNvPr>
          <p:cNvSpPr txBox="1">
            <a:spLocks/>
          </p:cNvSpPr>
          <p:nvPr/>
        </p:nvSpPr>
        <p:spPr>
          <a:xfrm>
            <a:off x="101991" y="923427"/>
            <a:ext cx="9042009" cy="395749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Time series are typically characterised by 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5"/>
                </a:solidFill>
              </a:rPr>
              <a:t>Trends</a:t>
            </a:r>
            <a:r>
              <a:rPr lang="en-GB" sz="1600" dirty="0">
                <a:solidFill>
                  <a:schemeClr val="tx1"/>
                </a:solidFill>
              </a:rPr>
              <a:t>: 	Long-term persistent increases or decreases in the data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(e.g. “global warming”)</a:t>
            </a: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5"/>
                </a:solidFill>
              </a:rPr>
              <a:t>Cycles</a:t>
            </a:r>
            <a:r>
              <a:rPr lang="en-GB" sz="1600" dirty="0">
                <a:solidFill>
                  <a:schemeClr val="tx1"/>
                </a:solidFill>
              </a:rPr>
              <a:t>:	Rises and falls over long time scales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(e.g. the “business cycle”)</a:t>
            </a: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5"/>
                </a:solidFill>
              </a:rPr>
              <a:t>Seasonality</a:t>
            </a:r>
            <a:r>
              <a:rPr lang="en-GB" sz="1600" dirty="0">
                <a:solidFill>
                  <a:schemeClr val="tx1"/>
                </a:solidFill>
              </a:rPr>
              <a:t>:	Regular changes over a known time period usually less than a year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(e.g. depending on time of year, day of the week, day of the month)</a:t>
            </a: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5"/>
                </a:solidFill>
              </a:rPr>
              <a:t>Variability</a:t>
            </a:r>
            <a:r>
              <a:rPr lang="en-GB" sz="1600" dirty="0">
                <a:solidFill>
                  <a:schemeClr val="tx1"/>
                </a:solidFill>
              </a:rPr>
              <a:t>:	Short-term fluctuations which aren’t due to random noise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(e.g. “weather”)</a:t>
            </a: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5"/>
                </a:solidFill>
              </a:rPr>
              <a:t>Noise</a:t>
            </a:r>
            <a:r>
              <a:rPr lang="en-GB" sz="1600" dirty="0">
                <a:solidFill>
                  <a:schemeClr val="tx1"/>
                </a:solidFill>
              </a:rPr>
              <a:t>: 	Random or irregular influences that manifest over all time scales</a:t>
            </a: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5"/>
                </a:solidFill>
              </a:rPr>
              <a:t>Chaos</a:t>
            </a:r>
            <a:r>
              <a:rPr lang="en-GB" sz="1600" dirty="0">
                <a:solidFill>
                  <a:schemeClr val="tx1"/>
                </a:solidFill>
              </a:rPr>
              <a:t>:	Behaviour that appears random but is actually deterministic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Only occurs in nonlinear systems </a:t>
            </a:r>
          </a:p>
          <a:p>
            <a:pPr marL="285750" lvl="2" indent="-285750">
              <a:buClrTx/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33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46AA-492C-7F34-622C-848CD4E71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F258623-4F78-8E1F-A055-86535CD86A9C}"/>
              </a:ext>
            </a:extLst>
          </p:cNvPr>
          <p:cNvSpPr txBox="1"/>
          <p:nvPr/>
        </p:nvSpPr>
        <p:spPr>
          <a:xfrm>
            <a:off x="581891" y="119043"/>
            <a:ext cx="8562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 Series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</a:rPr>
              <a:t>Example: Historical trends in CO</a:t>
            </a:r>
            <a:r>
              <a:rPr lang="en-GB" sz="2000" baseline="-25000" dirty="0">
                <a:solidFill>
                  <a:schemeClr val="tx1"/>
                </a:solidFill>
              </a:rPr>
              <a:t>2</a:t>
            </a:r>
            <a:r>
              <a:rPr lang="en-GB" sz="2000" dirty="0">
                <a:solidFill>
                  <a:schemeClr val="tx1"/>
                </a:solidFill>
              </a:rPr>
              <a:t> and temperature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C1F52-5A20-BCF6-FED5-4DF65C226634}"/>
              </a:ext>
            </a:extLst>
          </p:cNvPr>
          <p:cNvSpPr txBox="1"/>
          <p:nvPr/>
        </p:nvSpPr>
        <p:spPr>
          <a:xfrm>
            <a:off x="0" y="4897279"/>
            <a:ext cx="2262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</a:rPr>
              <a:t>[IPCC 2007, </a:t>
            </a:r>
            <a:r>
              <a:rPr lang="en-US" sz="1000" dirty="0" err="1">
                <a:solidFill>
                  <a:schemeClr val="tx1"/>
                </a:solidFill>
              </a:rPr>
              <a:t>Efbrazil</a:t>
            </a:r>
            <a:r>
              <a:rPr lang="en-US" sz="1000" dirty="0">
                <a:solidFill>
                  <a:schemeClr val="tx1"/>
                </a:solidFill>
              </a:rPr>
              <a:t> CC BY-SA 4.0]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717887-BFC3-E65A-C265-73695D318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05" y="1111247"/>
            <a:ext cx="3662928" cy="3588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8BD780-1E60-71EF-7CCB-9BB840664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11247"/>
            <a:ext cx="4335895" cy="358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707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F84A6-6F5B-5EBF-A049-627C63013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5BA9EE1-FC6C-234A-02ED-D0C5A35ECB04}"/>
              </a:ext>
            </a:extLst>
          </p:cNvPr>
          <p:cNvSpPr txBox="1"/>
          <p:nvPr/>
        </p:nvSpPr>
        <p:spPr>
          <a:xfrm>
            <a:off x="581891" y="119043"/>
            <a:ext cx="8562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 Series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</a:rPr>
              <a:t>Example: Stock market prices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53A91-468B-4FDD-8382-A818DC6FBB4E}"/>
              </a:ext>
            </a:extLst>
          </p:cNvPr>
          <p:cNvSpPr txBox="1"/>
          <p:nvPr/>
        </p:nvSpPr>
        <p:spPr>
          <a:xfrm>
            <a:off x="0" y="4897279"/>
            <a:ext cx="17411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</a:rPr>
              <a:t>[https://</a:t>
            </a:r>
            <a:r>
              <a:rPr lang="en-US" sz="1000" dirty="0" err="1">
                <a:solidFill>
                  <a:schemeClr val="tx1"/>
                </a:solidFill>
              </a:rPr>
              <a:t>finance.yahoo.com</a:t>
            </a:r>
            <a:r>
              <a:rPr lang="en-US" sz="1000" dirty="0">
                <a:solidFill>
                  <a:schemeClr val="tx1"/>
                </a:solidFill>
              </a:rPr>
              <a:t>/]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9B9E81-E1F3-448B-8DEF-9A9FAE7C4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54" y="991605"/>
            <a:ext cx="7211292" cy="20133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47FF33-D89C-A30A-65EB-DD86D322E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54" y="3004909"/>
            <a:ext cx="7211291" cy="19249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9AB1BE-3E4F-149F-C772-07B02D5BFBAB}"/>
              </a:ext>
            </a:extLst>
          </p:cNvPr>
          <p:cNvSpPr txBox="1"/>
          <p:nvPr/>
        </p:nvSpPr>
        <p:spPr>
          <a:xfrm>
            <a:off x="1151734" y="1323306"/>
            <a:ext cx="1685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Tesla, Inc. (TSLA)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09F3D-B047-068B-10DC-01FA5D5C511C}"/>
              </a:ext>
            </a:extLst>
          </p:cNvPr>
          <p:cNvSpPr txBox="1"/>
          <p:nvPr/>
        </p:nvSpPr>
        <p:spPr>
          <a:xfrm>
            <a:off x="1151734" y="3431715"/>
            <a:ext cx="3028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Rolls-Royce Holdings PLC (RR.L)</a:t>
            </a:r>
          </a:p>
        </p:txBody>
      </p:sp>
    </p:spTree>
    <p:extLst>
      <p:ext uri="{BB962C8B-B14F-4D97-AF65-F5344CB8AC3E}">
        <p14:creationId xmlns:p14="http://schemas.microsoft.com/office/powerpoint/2010/main" val="2563295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BFB9-54A1-32D3-D70E-B9F749B0D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2FD19F0-32EA-DE19-F64F-2D0E93960E10}"/>
              </a:ext>
            </a:extLst>
          </p:cNvPr>
          <p:cNvSpPr txBox="1"/>
          <p:nvPr/>
        </p:nvSpPr>
        <p:spPr>
          <a:xfrm>
            <a:off x="581891" y="119043"/>
            <a:ext cx="8562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2"/>
                </a:solidFill>
              </a:rPr>
              <a:t>Time Series</a:t>
            </a:r>
          </a:p>
          <a:p>
            <a:pPr algn="ctr"/>
            <a:r>
              <a:rPr lang="en-GB" sz="2000" dirty="0">
                <a:solidFill>
                  <a:schemeClr val="bg2"/>
                </a:solidFill>
              </a:rPr>
              <a:t>Example: Lorenz attractor (chaos)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CF1CC-6A1D-15AA-A0DF-437CE422A72E}"/>
              </a:ext>
            </a:extLst>
          </p:cNvPr>
          <p:cNvSpPr txBox="1"/>
          <p:nvPr/>
        </p:nvSpPr>
        <p:spPr>
          <a:xfrm>
            <a:off x="0" y="4897279"/>
            <a:ext cx="15119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[</a:t>
            </a:r>
            <a:r>
              <a:rPr lang="en-US" sz="1000" dirty="0" err="1">
                <a:solidFill>
                  <a:schemeClr val="bg2"/>
                </a:solidFill>
              </a:rPr>
              <a:t>Eyrian</a:t>
            </a:r>
            <a:r>
              <a:rPr lang="en-US" sz="1000" dirty="0">
                <a:solidFill>
                  <a:schemeClr val="bg2"/>
                </a:solidFill>
              </a:rPr>
              <a:t>, CC-BY-SA 3.0]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132683-3D79-4324-0AB2-5768A3464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960791"/>
            <a:ext cx="2646219" cy="2203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647C9C-379A-A9E3-44B9-CFEF7D97E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45" y="3050985"/>
            <a:ext cx="7876309" cy="18541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063FC-2F58-8FBC-D722-F6059462D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496" y="960791"/>
            <a:ext cx="2921503" cy="2105083"/>
          </a:xfrm>
          <a:prstGeom prst="rect">
            <a:avLst/>
          </a:prstGeom>
          <a:solidFill>
            <a:schemeClr val="lt1"/>
          </a:solidFill>
        </p:spPr>
      </p:pic>
    </p:spTree>
    <p:extLst>
      <p:ext uri="{BB962C8B-B14F-4D97-AF65-F5344CB8AC3E}">
        <p14:creationId xmlns:p14="http://schemas.microsoft.com/office/powerpoint/2010/main" val="98306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0AD60-06C2-88AC-6F19-4F1FE5354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D9954E2-4926-385D-5F5F-D1CC37E299AC}"/>
              </a:ext>
            </a:extLst>
          </p:cNvPr>
          <p:cNvSpPr txBox="1"/>
          <p:nvPr/>
        </p:nvSpPr>
        <p:spPr>
          <a:xfrm>
            <a:off x="312470" y="839450"/>
            <a:ext cx="3745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2"/>
                </a:solidFill>
              </a:rPr>
              <a:t>Time Series</a:t>
            </a:r>
          </a:p>
          <a:p>
            <a:pPr algn="ctr"/>
            <a:r>
              <a:rPr lang="en-GB" sz="2000" dirty="0">
                <a:solidFill>
                  <a:schemeClr val="bg2"/>
                </a:solidFill>
              </a:rPr>
              <a:t>Example: The Solar cycle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7129AC-27CE-380F-BF60-8F8994A4C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8449"/>
            <a:ext cx="7772400" cy="23550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32783A-83B5-A2DF-DB9C-39B2453D6AB0}"/>
              </a:ext>
            </a:extLst>
          </p:cNvPr>
          <p:cNvSpPr txBox="1"/>
          <p:nvPr/>
        </p:nvSpPr>
        <p:spPr>
          <a:xfrm>
            <a:off x="4311894" y="195499"/>
            <a:ext cx="1585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The Sun on 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29 January 2025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1953E8-1381-40DA-45CB-DE54DE59C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614" y="13438"/>
            <a:ext cx="3248181" cy="324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61E4FC-523D-29B1-6A0F-9CD93CDFA26E}"/>
              </a:ext>
            </a:extLst>
          </p:cNvPr>
          <p:cNvSpPr txBox="1"/>
          <p:nvPr/>
        </p:nvSpPr>
        <p:spPr>
          <a:xfrm>
            <a:off x="1612946" y="2367834"/>
            <a:ext cx="2701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Number of sunspots since 1900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9FC16-E8A1-1C53-3766-2EC52EFF2F28}"/>
              </a:ext>
            </a:extLst>
          </p:cNvPr>
          <p:cNvSpPr txBox="1"/>
          <p:nvPr/>
        </p:nvSpPr>
        <p:spPr>
          <a:xfrm>
            <a:off x="0" y="4897279"/>
            <a:ext cx="18357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[NASA SDO, </a:t>
            </a:r>
            <a:r>
              <a:rPr lang="en-US" sz="1000" dirty="0" err="1">
                <a:solidFill>
                  <a:schemeClr val="bg2"/>
                </a:solidFill>
              </a:rPr>
              <a:t>swpc.noaa.gov</a:t>
            </a:r>
            <a:r>
              <a:rPr lang="en-US" sz="1000" dirty="0">
                <a:solidFill>
                  <a:schemeClr val="bg2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949172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E054C-5666-0B81-BD42-0CA71B53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FEC02D47-2D95-5AD5-EEBF-D207F862B08A}"/>
              </a:ext>
            </a:extLst>
          </p:cNvPr>
          <p:cNvSpPr txBox="1"/>
          <p:nvPr/>
        </p:nvSpPr>
        <p:spPr>
          <a:xfrm>
            <a:off x="581891" y="119043"/>
            <a:ext cx="8562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 Series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</a:rPr>
              <a:t>Example: Multivariate neuronal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0AF91-6A03-C177-C80F-3D2101A05078}"/>
              </a:ext>
            </a:extLst>
          </p:cNvPr>
          <p:cNvSpPr txBox="1"/>
          <p:nvPr/>
        </p:nvSpPr>
        <p:spPr>
          <a:xfrm>
            <a:off x="0" y="4897279"/>
            <a:ext cx="9092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</a:rPr>
              <a:t>[</a:t>
            </a:r>
            <a:r>
              <a:rPr lang="en-US" sz="1000" dirty="0" err="1">
                <a:solidFill>
                  <a:schemeClr val="tx1"/>
                </a:solidFill>
              </a:rPr>
              <a:t>Ekke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Ullner</a:t>
            </a:r>
            <a:r>
              <a:rPr lang="en-US" sz="1000" dirty="0">
                <a:solidFill>
                  <a:schemeClr val="tx1"/>
                </a:solidFill>
              </a:rPr>
              <a:t>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45E508-995A-63AF-C503-DADD630C1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797" y="950040"/>
            <a:ext cx="5582203" cy="41934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10DDC1-80D6-D190-B704-A172ACB3EDCC}"/>
              </a:ext>
            </a:extLst>
          </p:cNvPr>
          <p:cNvSpPr txBox="1"/>
          <p:nvPr/>
        </p:nvSpPr>
        <p:spPr>
          <a:xfrm>
            <a:off x="768966" y="1690278"/>
            <a:ext cx="19156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Continuous data, equally-spaced sampling in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7CC02-1DAC-8A3F-31EF-EE22FF4B1B86}"/>
              </a:ext>
            </a:extLst>
          </p:cNvPr>
          <p:cNvSpPr txBox="1"/>
          <p:nvPr/>
        </p:nvSpPr>
        <p:spPr>
          <a:xfrm>
            <a:off x="768966" y="3072058"/>
            <a:ext cx="19156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Discrete data spike event of oscillator </a:t>
            </a:r>
            <a:r>
              <a:rPr lang="en-US" i="1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at discrete time points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88F7B3-1337-FA8C-88A7-C7A60872C9F9}"/>
              </a:ext>
            </a:extLst>
          </p:cNvPr>
          <p:cNvSpPr txBox="1"/>
          <p:nvPr/>
        </p:nvSpPr>
        <p:spPr>
          <a:xfrm>
            <a:off x="1726776" y="4020133"/>
            <a:ext cx="19156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Instantaneous frequency, from binning panel (c)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E0B9C-F797-47E3-70DC-55EB9E7974CA}"/>
              </a:ext>
            </a:extLst>
          </p:cNvPr>
          <p:cNvSpPr txBox="1"/>
          <p:nvPr/>
        </p:nvSpPr>
        <p:spPr>
          <a:xfrm>
            <a:off x="4195739" y="2656890"/>
            <a:ext cx="2358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/>
                </a:solidFill>
              </a:rPr>
              <a:t>Membrane potential of a single neuron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4024A-52AA-708E-4AD5-CF3125CF9E4F}"/>
              </a:ext>
            </a:extLst>
          </p:cNvPr>
          <p:cNvSpPr txBox="1"/>
          <p:nvPr/>
        </p:nvSpPr>
        <p:spPr>
          <a:xfrm>
            <a:off x="6695514" y="2687712"/>
            <a:ext cx="19623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Mean field – ensemble average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2D372628-B17D-F99C-D552-CCD9795AD0FA}"/>
              </a:ext>
            </a:extLst>
          </p:cNvPr>
          <p:cNvSpPr/>
          <p:nvPr/>
        </p:nvSpPr>
        <p:spPr>
          <a:xfrm>
            <a:off x="2842256" y="1232359"/>
            <a:ext cx="506186" cy="1649186"/>
          </a:xfrm>
          <a:prstGeom prst="leftBrace">
            <a:avLst>
              <a:gd name="adj1" fmla="val 8333"/>
              <a:gd name="adj2" fmla="val 5198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63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B5971-0C1D-C1C8-BBF2-1D9A5C5EB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CBFE1A5-6200-94D1-686A-1ABBD8CF7EFE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Time-domain and frequency-domain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B8882-3ADD-1233-3C74-A53BF9370141}"/>
              </a:ext>
            </a:extLst>
          </p:cNvPr>
          <p:cNvSpPr txBox="1">
            <a:spLocks/>
          </p:cNvSpPr>
          <p:nvPr/>
        </p:nvSpPr>
        <p:spPr>
          <a:xfrm>
            <a:off x="-127923" y="1217607"/>
            <a:ext cx="2071497" cy="205528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GB" sz="1600" dirty="0">
                <a:solidFill>
                  <a:schemeClr val="accent5"/>
                </a:solidFill>
              </a:rPr>
              <a:t>Time domain:</a:t>
            </a:r>
            <a:r>
              <a:rPr lang="en-GB" sz="1600" dirty="0">
                <a:solidFill>
                  <a:schemeClr val="tx1"/>
                </a:solidFill>
              </a:rPr>
              <a:t> Analyse data as a function of time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A time-domain graph shows how a signal changes over time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D091CAD-38FD-770C-59F3-DC4A15F559FB}"/>
              </a:ext>
            </a:extLst>
          </p:cNvPr>
          <p:cNvSpPr txBox="1">
            <a:spLocks/>
          </p:cNvSpPr>
          <p:nvPr/>
        </p:nvSpPr>
        <p:spPr>
          <a:xfrm>
            <a:off x="6903691" y="1141291"/>
            <a:ext cx="2254377" cy="3057866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GB" sz="1600" dirty="0">
                <a:solidFill>
                  <a:schemeClr val="accent5"/>
                </a:solidFill>
              </a:rPr>
              <a:t>Frequency domain: </a:t>
            </a:r>
            <a:r>
              <a:rPr lang="en-GB" sz="1600" dirty="0">
                <a:solidFill>
                  <a:schemeClr val="tx1"/>
                </a:solidFill>
              </a:rPr>
              <a:t>Analyse data as a function of frequency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A frequency-domain graph shows how much of the signal lies within each frequency band over a range of frequencies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44928-9862-17CD-88E4-4094576ABD69}"/>
              </a:ext>
            </a:extLst>
          </p:cNvPr>
          <p:cNvSpPr txBox="1"/>
          <p:nvPr/>
        </p:nvSpPr>
        <p:spPr>
          <a:xfrm>
            <a:off x="-3122" y="4869143"/>
            <a:ext cx="744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</a:rPr>
              <a:t>[Keysight]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999DAB92-E319-156A-7EF3-7637BDBC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361" y="1217607"/>
            <a:ext cx="5198175" cy="2708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9425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223E-754B-A201-D760-7F623345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CC3D10F-73B3-4A68-F4DC-624F8DD541B2}"/>
              </a:ext>
            </a:extLst>
          </p:cNvPr>
          <p:cNvSpPr txBox="1"/>
          <p:nvPr/>
        </p:nvSpPr>
        <p:spPr>
          <a:xfrm>
            <a:off x="1845780" y="119043"/>
            <a:ext cx="697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Time-domain and frequency-domain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</a:rPr>
              <a:t>Time series composed of one periodic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842C59-600E-6DEE-27E8-B080A35663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4701" y="3686645"/>
                <a:ext cx="6680013" cy="126033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accent5"/>
                    </a:solidFill>
                  </a:rPr>
                  <a:t>Periodic signal: </a:t>
                </a:r>
                <a:r>
                  <a:rPr lang="en-GB" sz="16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𝑓𝑡</m:t>
                            </m:r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		with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t</a:t>
                </a:r>
                <a:r>
                  <a:rPr lang="en-US" sz="1600" dirty="0">
                    <a:solidFill>
                      <a:schemeClr val="tx1"/>
                    </a:solidFill>
                  </a:rPr>
                  <a:t> time,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f</a:t>
                </a:r>
                <a:r>
                  <a:rPr lang="en-US" sz="1600" dirty="0">
                    <a:solidFill>
                      <a:schemeClr val="tx1"/>
                    </a:solidFill>
                  </a:rPr>
                  <a:t> frequency,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A</a:t>
                </a:r>
                <a:r>
                  <a:rPr lang="en-US" sz="1600" dirty="0">
                    <a:solidFill>
                      <a:schemeClr val="tx1"/>
                    </a:solidFill>
                  </a:rPr>
                  <a:t> amplitude, and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phase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Signal can be expressed in time-domain by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or in frequency-domain by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f</a:t>
                </a:r>
                <a:r>
                  <a:rPr lang="en-US" sz="1600" dirty="0">
                    <a:solidFill>
                      <a:schemeClr val="tx1"/>
                    </a:solidFill>
                  </a:rPr>
                  <a:t>,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A</a:t>
                </a:r>
                <a:r>
                  <a:rPr lang="en-US" sz="16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842C59-600E-6DEE-27E8-B080A3566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701" y="3686645"/>
                <a:ext cx="6680013" cy="1260331"/>
              </a:xfrm>
              <a:prstGeom prst="rect">
                <a:avLst/>
              </a:prstGeom>
              <a:blipFill>
                <a:blip r:embed="rId3"/>
                <a:stretch>
                  <a:fillRect t="-3000" b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26A5FBC-4348-FB02-93BD-5F26990C3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89" y="1239334"/>
            <a:ext cx="3525098" cy="2241013"/>
          </a:xfrm>
          <a:prstGeom prst="rect">
            <a:avLst/>
          </a:prstGeom>
          <a:solidFill>
            <a:schemeClr val="lt1"/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5065F8-B056-C37C-3405-575A4CD5D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141" y="1239334"/>
            <a:ext cx="3700677" cy="2241013"/>
          </a:xfrm>
          <a:prstGeom prst="rect">
            <a:avLst/>
          </a:prstGeom>
          <a:solidFill>
            <a:schemeClr val="lt1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9D60BE-1363-B44A-500E-70DBD55BA370}"/>
              </a:ext>
            </a:extLst>
          </p:cNvPr>
          <p:cNvSpPr txBox="1"/>
          <p:nvPr/>
        </p:nvSpPr>
        <p:spPr>
          <a:xfrm>
            <a:off x="3644595" y="1469609"/>
            <a:ext cx="70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Time 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595FE-CDC0-1EBA-EC3B-EB33AEAEB128}"/>
              </a:ext>
            </a:extLst>
          </p:cNvPr>
          <p:cNvSpPr txBox="1"/>
          <p:nvPr/>
        </p:nvSpPr>
        <p:spPr>
          <a:xfrm>
            <a:off x="6171497" y="1499642"/>
            <a:ext cx="181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Frequency spectrum</a:t>
            </a:r>
          </a:p>
        </p:txBody>
      </p:sp>
    </p:spTree>
    <p:extLst>
      <p:ext uri="{BB962C8B-B14F-4D97-AF65-F5344CB8AC3E}">
        <p14:creationId xmlns:p14="http://schemas.microsoft.com/office/powerpoint/2010/main" val="3573118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10BA1-ACE7-0E88-C708-E00E25DA2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E38449-B285-5D83-4FF5-7ACE9C490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257" y="1239334"/>
            <a:ext cx="3746832" cy="2241013"/>
          </a:xfrm>
          <a:prstGeom prst="rect">
            <a:avLst/>
          </a:prstGeom>
          <a:solidFill>
            <a:schemeClr val="lt1"/>
          </a:solidFill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FF96F4-3B1D-1469-8F6A-B2F410A16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82" y="1239334"/>
            <a:ext cx="3548271" cy="2241013"/>
          </a:xfrm>
          <a:prstGeom prst="rect">
            <a:avLst/>
          </a:prstGeom>
          <a:solidFill>
            <a:schemeClr val="lt1"/>
          </a:solidFill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5D23F2-7561-FAD9-D47A-641851B27A93}"/>
              </a:ext>
            </a:extLst>
          </p:cNvPr>
          <p:cNvSpPr txBox="1"/>
          <p:nvPr/>
        </p:nvSpPr>
        <p:spPr>
          <a:xfrm>
            <a:off x="1845780" y="119043"/>
            <a:ext cx="697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Time-domain and frequency-domain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</a:rPr>
              <a:t>Time series composed of two periodic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BB0A00-9221-81DF-0303-05DE5FB14C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4701" y="3686645"/>
                <a:ext cx="6680013" cy="126033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br>
                  <a:rPr lang="en-US" sz="1600" dirty="0">
                    <a:solidFill>
                      <a:schemeClr val="tx1"/>
                    </a:solidFill>
                  </a:rPr>
                </a:b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Each of the two periodic signals has its own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f</a:t>
                </a:r>
                <a:r>
                  <a:rPr lang="en-GB" sz="1600" dirty="0">
                    <a:solidFill>
                      <a:schemeClr val="tx1"/>
                    </a:solidFill>
                  </a:rPr>
                  <a:t>,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A</a:t>
                </a:r>
                <a:r>
                  <a:rPr lang="en-GB" sz="16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BB0A00-9221-81DF-0303-05DE5FB14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701" y="3686645"/>
                <a:ext cx="6680013" cy="1260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8F5A64E-8549-15C3-2C68-CD300679B64D}"/>
              </a:ext>
            </a:extLst>
          </p:cNvPr>
          <p:cNvSpPr txBox="1"/>
          <p:nvPr/>
        </p:nvSpPr>
        <p:spPr>
          <a:xfrm>
            <a:off x="3644595" y="1469609"/>
            <a:ext cx="70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Time 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5E12FF-36DF-288C-969A-1EA18D0B6F6E}"/>
              </a:ext>
            </a:extLst>
          </p:cNvPr>
          <p:cNvSpPr txBox="1"/>
          <p:nvPr/>
        </p:nvSpPr>
        <p:spPr>
          <a:xfrm>
            <a:off x="6171497" y="1499642"/>
            <a:ext cx="181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Frequency spectrum</a:t>
            </a:r>
          </a:p>
        </p:txBody>
      </p:sp>
    </p:spTree>
    <p:extLst>
      <p:ext uri="{BB962C8B-B14F-4D97-AF65-F5344CB8AC3E}">
        <p14:creationId xmlns:p14="http://schemas.microsoft.com/office/powerpoint/2010/main" val="2878523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61692-7AD1-DAF0-8509-E3D7D7D09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899E8C0-BCA6-657E-DD46-7B78B2AF5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4" y="980201"/>
            <a:ext cx="4251636" cy="25207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3F3248-5230-9093-C6C0-427FAEC17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266" y="967835"/>
            <a:ext cx="3710840" cy="20721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E3923C-1FFE-A912-2DA5-1AEDB35BC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266" y="3074070"/>
            <a:ext cx="3710840" cy="20203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662EA7-6807-3864-EFA1-6164AEA21BBE}"/>
              </a:ext>
            </a:extLst>
          </p:cNvPr>
          <p:cNvSpPr txBox="1"/>
          <p:nvPr/>
        </p:nvSpPr>
        <p:spPr>
          <a:xfrm>
            <a:off x="1845780" y="119043"/>
            <a:ext cx="697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Time-domain and frequency-domain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</a:rPr>
              <a:t>Multiple periodic signals plus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C3FE-7197-A28A-904C-F483AE79E0F0}"/>
              </a:ext>
            </a:extLst>
          </p:cNvPr>
          <p:cNvSpPr txBox="1">
            <a:spLocks/>
          </p:cNvSpPr>
          <p:nvPr/>
        </p:nvSpPr>
        <p:spPr>
          <a:xfrm>
            <a:off x="1607576" y="3751037"/>
            <a:ext cx="3193690" cy="1260331"/>
          </a:xfrm>
          <a:prstGeom prst="rect">
            <a:avLst/>
          </a:prstGeom>
        </p:spPr>
        <p:txBody>
          <a:bodyPr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Noise</a:t>
            </a:r>
            <a:r>
              <a:rPr lang="en-US" sz="1600" dirty="0">
                <a:solidFill>
                  <a:schemeClr val="tx1"/>
                </a:solidFill>
              </a:rPr>
              <a:t> manifests in the frequency domain at </a:t>
            </a:r>
            <a:r>
              <a:rPr lang="en-US" sz="1600" dirty="0">
                <a:solidFill>
                  <a:schemeClr val="accent5"/>
                </a:solidFill>
              </a:rPr>
              <a:t>all frequencies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This is </a:t>
            </a:r>
            <a:r>
              <a:rPr lang="en-US" sz="1600" dirty="0">
                <a:solidFill>
                  <a:schemeClr val="accent5"/>
                </a:solidFill>
              </a:rPr>
              <a:t>white noise</a:t>
            </a:r>
            <a:r>
              <a:rPr lang="en-US" sz="1600" dirty="0">
                <a:solidFill>
                  <a:schemeClr val="tx1"/>
                </a:solidFill>
              </a:rPr>
              <a:t>: Same amplitude at all frequencies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328861-9195-3103-0D3C-2555BB8ECB8D}"/>
              </a:ext>
            </a:extLst>
          </p:cNvPr>
          <p:cNvSpPr txBox="1"/>
          <p:nvPr/>
        </p:nvSpPr>
        <p:spPr>
          <a:xfrm>
            <a:off x="809240" y="1130310"/>
            <a:ext cx="1139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Time 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623C9-D94E-3B62-B0F8-4F10F2DDA827}"/>
              </a:ext>
            </a:extLst>
          </p:cNvPr>
          <p:cNvSpPr txBox="1"/>
          <p:nvPr/>
        </p:nvSpPr>
        <p:spPr>
          <a:xfrm>
            <a:off x="6656686" y="1022589"/>
            <a:ext cx="1814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Frequency spectrum</a:t>
            </a:r>
          </a:p>
          <a:p>
            <a:r>
              <a:rPr lang="en-US" dirty="0">
                <a:solidFill>
                  <a:schemeClr val="tx1"/>
                </a:solidFill>
              </a:rPr>
              <a:t>– Linear </a:t>
            </a:r>
            <a:r>
              <a:rPr lang="en-US" i="1" dirty="0">
                <a:solidFill>
                  <a:schemeClr val="tx1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-axis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487D6-7201-D65F-A0BB-3FC78C00C7F1}"/>
              </a:ext>
            </a:extLst>
          </p:cNvPr>
          <p:cNvSpPr txBox="1"/>
          <p:nvPr/>
        </p:nvSpPr>
        <p:spPr>
          <a:xfrm>
            <a:off x="6646776" y="3094700"/>
            <a:ext cx="1814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Frequency spectrum</a:t>
            </a:r>
          </a:p>
          <a:p>
            <a:r>
              <a:rPr lang="en-US" dirty="0">
                <a:solidFill>
                  <a:schemeClr val="tx1"/>
                </a:solidFill>
              </a:rPr>
              <a:t>– Logarithmic </a:t>
            </a:r>
            <a:r>
              <a:rPr lang="en-US" i="1" dirty="0">
                <a:solidFill>
                  <a:schemeClr val="tx1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-axis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DC808-42CE-8C38-EBFE-0DBDC9239BAE}"/>
              </a:ext>
            </a:extLst>
          </p:cNvPr>
          <p:cNvSpPr txBox="1"/>
          <p:nvPr/>
        </p:nvSpPr>
        <p:spPr>
          <a:xfrm>
            <a:off x="6837533" y="4795924"/>
            <a:ext cx="16241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</a:rPr>
              <a:t>Note </a:t>
            </a:r>
            <a:r>
              <a:rPr lang="en-US" sz="800" i="1" dirty="0">
                <a:solidFill>
                  <a:schemeClr val="tx1"/>
                </a:solidFill>
              </a:rPr>
              <a:t>x</a:t>
            </a:r>
            <a:r>
              <a:rPr lang="en-US" sz="800" dirty="0">
                <a:solidFill>
                  <a:schemeClr val="tx1"/>
                </a:solidFill>
              </a:rPr>
              <a:t>-axis ranges are different</a:t>
            </a:r>
          </a:p>
        </p:txBody>
      </p:sp>
    </p:spTree>
    <p:extLst>
      <p:ext uri="{BB962C8B-B14F-4D97-AF65-F5344CB8AC3E}">
        <p14:creationId xmlns:p14="http://schemas.microsoft.com/office/powerpoint/2010/main" val="2204526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91C2-4463-0B6F-3A12-EA65D2C6B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5FF75AA-CC96-170C-ED37-A706B5201D8F}"/>
              </a:ext>
            </a:extLst>
          </p:cNvPr>
          <p:cNvSpPr txBox="1"/>
          <p:nvPr/>
        </p:nvSpPr>
        <p:spPr>
          <a:xfrm>
            <a:off x="1845780" y="119043"/>
            <a:ext cx="697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Time-domain analysis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</a:rPr>
              <a:t>Visualisation and processing in Mathematica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67FF7-70CB-43A9-4876-F861883835D0}"/>
              </a:ext>
            </a:extLst>
          </p:cNvPr>
          <p:cNvSpPr txBox="1">
            <a:spLocks/>
          </p:cNvSpPr>
          <p:nvPr/>
        </p:nvSpPr>
        <p:spPr>
          <a:xfrm>
            <a:off x="63322" y="931275"/>
            <a:ext cx="9080678" cy="362043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Plotting</a:t>
            </a:r>
            <a:r>
              <a:rPr lang="en-US" sz="1600" dirty="0">
                <a:solidFill>
                  <a:schemeClr val="tx1"/>
                </a:solidFill>
              </a:rPr>
              <a:t> using line charts:		</a:t>
            </a:r>
            <a:r>
              <a:rPr lang="en-US" sz="1600" dirty="0" err="1">
                <a:solidFill>
                  <a:schemeClr val="accent6"/>
                </a:solidFill>
              </a:rPr>
              <a:t>ListLinePlot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Binning</a:t>
            </a:r>
            <a:r>
              <a:rPr lang="en-US" sz="1600" dirty="0">
                <a:solidFill>
                  <a:schemeClr val="tx1"/>
                </a:solidFill>
              </a:rPr>
              <a:t> the data:	</a:t>
            </a:r>
            <a:r>
              <a:rPr lang="en-US" sz="1600" dirty="0">
                <a:solidFill>
                  <a:schemeClr val="accent2"/>
                </a:solidFill>
              </a:rPr>
              <a:t>		</a:t>
            </a:r>
            <a:r>
              <a:rPr lang="en-US" sz="1600" dirty="0" err="1">
                <a:solidFill>
                  <a:schemeClr val="accent6"/>
                </a:solidFill>
              </a:rPr>
              <a:t>BinCounts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(grouping data by some property)</a:t>
            </a:r>
          </a:p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Smoothing</a:t>
            </a:r>
            <a:r>
              <a:rPr lang="en-US" sz="1600" dirty="0">
                <a:solidFill>
                  <a:schemeClr val="tx1"/>
                </a:solidFill>
              </a:rPr>
              <a:t> the data:</a:t>
            </a:r>
            <a:r>
              <a:rPr lang="en-US" sz="1600" dirty="0">
                <a:solidFill>
                  <a:schemeClr val="accent2"/>
                </a:solidFill>
              </a:rPr>
              <a:t>		</a:t>
            </a:r>
            <a:r>
              <a:rPr lang="en-US" sz="1600" dirty="0" err="1">
                <a:solidFill>
                  <a:schemeClr val="accent6"/>
                </a:solidFill>
              </a:rPr>
              <a:t>MovingAverage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MovingMedian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MeanFilter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(producing a visually smoother time 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MedianFilter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MinFilter</a:t>
            </a:r>
            <a:r>
              <a:rPr lang="en-US" sz="1600" dirty="0">
                <a:solidFill>
                  <a:schemeClr val="accent6"/>
                </a:solidFill>
              </a:rPr>
              <a:t>		</a:t>
            </a:r>
            <a:r>
              <a:rPr lang="en-US" sz="1600" dirty="0" err="1">
                <a:solidFill>
                  <a:schemeClr val="accent6"/>
                </a:solidFill>
              </a:rPr>
              <a:t>MaxFilter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 series to identify underlying trends) 	</a:t>
            </a:r>
            <a:r>
              <a:rPr lang="en-US" sz="1600" dirty="0" err="1">
                <a:solidFill>
                  <a:schemeClr val="accent6"/>
                </a:solidFill>
              </a:rPr>
              <a:t>GaussianFilter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</a:p>
          <a:p>
            <a:pPr>
              <a:buClrTx/>
            </a:pP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Filtering</a:t>
            </a:r>
            <a:r>
              <a:rPr lang="en-US" sz="1600" dirty="0">
                <a:solidFill>
                  <a:schemeClr val="tx1"/>
                </a:solidFill>
              </a:rPr>
              <a:t> the data:	</a:t>
            </a:r>
            <a:r>
              <a:rPr lang="en-US" sz="1600" dirty="0">
                <a:solidFill>
                  <a:schemeClr val="accent6"/>
                </a:solidFill>
              </a:rPr>
              <a:t>		</a:t>
            </a:r>
            <a:r>
              <a:rPr lang="en-US" sz="1600" dirty="0" err="1">
                <a:solidFill>
                  <a:schemeClr val="accent6"/>
                </a:solidFill>
              </a:rPr>
              <a:t>GradientFilter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LaplacianFilter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(modifying certain frequencies) 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LowpassFilter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HighpassFilter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BandpassFilter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Interpolating</a:t>
            </a:r>
            <a:r>
              <a:rPr lang="en-US" sz="1600" dirty="0">
                <a:solidFill>
                  <a:schemeClr val="tx1"/>
                </a:solidFill>
              </a:rPr>
              <a:t> or </a:t>
            </a:r>
            <a:r>
              <a:rPr lang="en-US" sz="1600" dirty="0">
                <a:solidFill>
                  <a:schemeClr val="accent5"/>
                </a:solidFill>
              </a:rPr>
              <a:t>fitting</a:t>
            </a:r>
            <a:r>
              <a:rPr lang="en-US" sz="1600" dirty="0">
                <a:solidFill>
                  <a:schemeClr val="tx1"/>
                </a:solidFill>
              </a:rPr>
              <a:t> the data:</a:t>
            </a:r>
            <a:r>
              <a:rPr lang="en-US" sz="1600" dirty="0">
                <a:solidFill>
                  <a:schemeClr val="accent2"/>
                </a:solidFill>
              </a:rPr>
              <a:t>	</a:t>
            </a:r>
            <a:r>
              <a:rPr lang="en-US" sz="1600" dirty="0">
                <a:solidFill>
                  <a:schemeClr val="accent6"/>
                </a:solidFill>
              </a:rPr>
              <a:t>Interpolation	Fit		</a:t>
            </a:r>
            <a:r>
              <a:rPr lang="en-US" sz="1600" dirty="0" err="1">
                <a:solidFill>
                  <a:schemeClr val="accent6"/>
                </a:solidFill>
              </a:rPr>
              <a:t>FindFit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(predicting values at arbitrary times)	</a:t>
            </a:r>
            <a:r>
              <a:rPr lang="en-US" sz="1600" dirty="0" err="1">
                <a:solidFill>
                  <a:schemeClr val="accent6"/>
                </a:solidFill>
              </a:rPr>
              <a:t>LinearModelFit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NonlinearModelFit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E4EF9-53D4-0EF9-32BA-DF0BE63F4429}"/>
              </a:ext>
            </a:extLst>
          </p:cNvPr>
          <p:cNvSpPr txBox="1"/>
          <p:nvPr/>
        </p:nvSpPr>
        <p:spPr>
          <a:xfrm>
            <a:off x="2146978" y="4620280"/>
            <a:ext cx="4913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sz="1400" dirty="0">
                <a:solidFill>
                  <a:schemeClr val="accent6"/>
                </a:solidFill>
              </a:rPr>
              <a:t>Examples: 	01_spiketimes.nb (Binning)</a:t>
            </a:r>
          </a:p>
          <a:p>
            <a:pPr>
              <a:buClrTx/>
            </a:pPr>
            <a:r>
              <a:rPr lang="en-US" sz="1400" dirty="0">
                <a:solidFill>
                  <a:schemeClr val="accent6"/>
                </a:solidFill>
              </a:rPr>
              <a:t>	02_interpolation_fit.nb (Interpolation and fitting)</a:t>
            </a:r>
          </a:p>
        </p:txBody>
      </p:sp>
    </p:spTree>
    <p:extLst>
      <p:ext uri="{BB962C8B-B14F-4D97-AF65-F5344CB8AC3E}">
        <p14:creationId xmlns:p14="http://schemas.microsoft.com/office/powerpoint/2010/main" val="407278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6A945-B78F-8702-5E32-F59E6F3E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6486697-0181-E68B-FCCC-C8E3778AF058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Smoothing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677630-7765-675A-63E2-243C921356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322" y="1948952"/>
                <a:ext cx="9080678" cy="362043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Define a smoothing window. In this example, it is a box with width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w</a:t>
                </a:r>
                <a:r>
                  <a:rPr lang="en-US" sz="1600" dirty="0">
                    <a:solidFill>
                      <a:schemeClr val="tx1"/>
                    </a:solidFill>
                  </a:rPr>
                  <a:t> (i.e.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w</a:t>
                </a:r>
                <a:r>
                  <a:rPr lang="en-US" sz="1600" dirty="0">
                    <a:solidFill>
                      <a:schemeClr val="tx1"/>
                    </a:solidFill>
                  </a:rPr>
                  <a:t>+1 points)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Identify paired data in the window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Assign time to window, e.g. midpoint</a:t>
                </a:r>
                <a:r>
                  <a:rPr lang="en-US" sz="1600" dirty="0">
                    <a:solidFill>
                      <a:schemeClr val="accent2"/>
                    </a:solidFill>
                  </a:rPr>
                  <a:t> (= 4 above)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Apply function to signal in the window, e.g. for a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moving average</a:t>
                </a:r>
                <a:br>
                  <a:rPr lang="en-US" sz="1600" i="1" dirty="0">
                    <a:solidFill>
                      <a:schemeClr val="tx1"/>
                    </a:solidFill>
                  </a:rPr>
                </a:br>
                <a:endParaRPr lang="en-US" sz="800" i="1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Mean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6+7+2+5+9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29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=5.8</m:t>
                      </m:r>
                    </m:oMath>
                  </m:oMathPara>
                </a14:m>
                <a:endParaRPr lang="en-US" sz="1600" dirty="0">
                  <a:solidFill>
                    <a:schemeClr val="accent2"/>
                  </a:solidFill>
                </a:endParaRP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endParaRPr lang="en-US" sz="800" dirty="0">
                  <a:solidFill>
                    <a:schemeClr val="tx1"/>
                  </a:solidFill>
                </a:endParaRP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r>
                  <a:rPr lang="en-US" sz="1600" dirty="0">
                    <a:solidFill>
                      <a:schemeClr val="tx1"/>
                    </a:solidFill>
                  </a:rPr>
                  <a:t>Add result to smoothed paired data: </a:t>
                </a:r>
                <a:r>
                  <a:rPr lang="en-US" sz="1600" dirty="0">
                    <a:solidFill>
                      <a:schemeClr val="accent2"/>
                    </a:solidFill>
                  </a:rPr>
                  <a:t>{4, 5.8}</a:t>
                </a: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r>
                  <a:rPr lang="en-US" sz="1600" dirty="0">
                    <a:solidFill>
                      <a:schemeClr val="tx1"/>
                    </a:solidFill>
                  </a:rPr>
                  <a:t>Move window and repeat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677630-7765-675A-63E2-243C92135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2" y="1948952"/>
                <a:ext cx="9080678" cy="3620433"/>
              </a:xfrm>
              <a:prstGeom prst="rect">
                <a:avLst/>
              </a:prstGeom>
              <a:blipFill>
                <a:blip r:embed="rId3"/>
                <a:stretch>
                  <a:fillRect t="-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CC87E04-6AE1-89B9-3C32-627D51D30924}"/>
              </a:ext>
            </a:extLst>
          </p:cNvPr>
          <p:cNvSpPr txBox="1">
            <a:spLocks/>
          </p:cNvSpPr>
          <p:nvPr/>
        </p:nvSpPr>
        <p:spPr>
          <a:xfrm>
            <a:off x="246202" y="1103966"/>
            <a:ext cx="9080678" cy="94991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ED5FD-21DF-35FB-5E99-F4440F606C43}"/>
              </a:ext>
            </a:extLst>
          </p:cNvPr>
          <p:cNvSpPr txBox="1"/>
          <p:nvPr/>
        </p:nvSpPr>
        <p:spPr>
          <a:xfrm>
            <a:off x="4993809" y="4501237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Mathematica: </a:t>
            </a:r>
            <a:r>
              <a:rPr lang="en-US" dirty="0" err="1">
                <a:solidFill>
                  <a:schemeClr val="accent6"/>
                </a:solidFill>
              </a:rPr>
              <a:t>MovingAverage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	    </a:t>
            </a:r>
            <a:r>
              <a:rPr lang="en-US" dirty="0" err="1">
                <a:solidFill>
                  <a:schemeClr val="accent6"/>
                </a:solidFill>
              </a:rPr>
              <a:t>MeanFilter</a:t>
            </a:r>
            <a:r>
              <a:rPr lang="en-US" dirty="0">
                <a:solidFill>
                  <a:schemeClr val="accent6"/>
                </a:solidFill>
              </a:rPr>
              <a:t>	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CC6753-EA23-069C-2680-4BFCD75973AE}"/>
              </a:ext>
            </a:extLst>
          </p:cNvPr>
          <p:cNvSpPr/>
          <p:nvPr/>
        </p:nvSpPr>
        <p:spPr>
          <a:xfrm>
            <a:off x="3072984" y="1208896"/>
            <a:ext cx="1169232" cy="739824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6C3098-8B0A-3362-6011-22991D78B20E}"/>
              </a:ext>
            </a:extLst>
          </p:cNvPr>
          <p:cNvSpPr txBox="1"/>
          <p:nvPr/>
        </p:nvSpPr>
        <p:spPr>
          <a:xfrm>
            <a:off x="2827885" y="685676"/>
            <a:ext cx="165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Window with width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i="1" dirty="0">
                <a:solidFill>
                  <a:schemeClr val="accent5"/>
                </a:solidFill>
              </a:rPr>
              <a:t>w = 4 at n =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DAD5A-3D48-7549-EF78-81DE1D1602BF}"/>
              </a:ext>
            </a:extLst>
          </p:cNvPr>
          <p:cNvSpPr txBox="1"/>
          <p:nvPr/>
        </p:nvSpPr>
        <p:spPr>
          <a:xfrm>
            <a:off x="1614276" y="1218351"/>
            <a:ext cx="63445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Index </a:t>
            </a:r>
            <a:r>
              <a:rPr lang="en-US" i="1" dirty="0">
                <a:solidFill>
                  <a:schemeClr val="tx1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:	1,  2,  3,  4,  5,  6,  7,   8,   9, 10, 11, 12, 13, 14, 15, …</a:t>
            </a:r>
          </a:p>
          <a:p>
            <a:r>
              <a:rPr lang="en-US" dirty="0">
                <a:solidFill>
                  <a:schemeClr val="tx1"/>
                </a:solidFill>
              </a:rPr>
              <a:t>Time </a:t>
            </a:r>
            <a:r>
              <a:rPr lang="en-US" i="1" dirty="0">
                <a:solidFill>
                  <a:schemeClr val="tx1"/>
                </a:solidFill>
              </a:rPr>
              <a:t>t</a:t>
            </a:r>
            <a:r>
              <a:rPr lang="en-US" dirty="0">
                <a:solidFill>
                  <a:schemeClr val="tx1"/>
                </a:solidFill>
              </a:rPr>
              <a:t>:	0,  1,  2,  3,  4,  5,  6,   7,   8,   9, 10, 11, 12, 13, 14, … </a:t>
            </a:r>
          </a:p>
          <a:p>
            <a:r>
              <a:rPr lang="en-US" dirty="0">
                <a:solidFill>
                  <a:schemeClr val="tx1"/>
                </a:solidFill>
              </a:rPr>
              <a:t>Signal </a:t>
            </a:r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:	3,  5,  6,  7,  2,  5,  9, 32, 42, 12, 24, 33, 46, 86, 11, …</a:t>
            </a:r>
          </a:p>
        </p:txBody>
      </p:sp>
    </p:spTree>
    <p:extLst>
      <p:ext uri="{BB962C8B-B14F-4D97-AF65-F5344CB8AC3E}">
        <p14:creationId xmlns:p14="http://schemas.microsoft.com/office/powerpoint/2010/main" val="841945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B448-5995-BF74-9A28-0EBEF19CA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4007BC-A855-7BD1-FDF6-FD6101BBA1A2}"/>
              </a:ext>
            </a:extLst>
          </p:cNvPr>
          <p:cNvSpPr/>
          <p:nvPr/>
        </p:nvSpPr>
        <p:spPr>
          <a:xfrm>
            <a:off x="3297834" y="1208896"/>
            <a:ext cx="1274166" cy="739824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48E3D-26C6-802D-6DA5-5DB5BF3C496A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Smoothing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5ECB28-3D03-B331-59AB-2880034090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322" y="1948952"/>
                <a:ext cx="9080678" cy="362043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Define a smoothing window. In this example, it is a box with width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w</a:t>
                </a:r>
                <a:r>
                  <a:rPr lang="en-US" sz="1600" dirty="0">
                    <a:solidFill>
                      <a:schemeClr val="tx1"/>
                    </a:solidFill>
                  </a:rPr>
                  <a:t> (i.e.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w</a:t>
                </a:r>
                <a:r>
                  <a:rPr lang="en-US" sz="1600" dirty="0">
                    <a:solidFill>
                      <a:schemeClr val="tx1"/>
                    </a:solidFill>
                  </a:rPr>
                  <a:t>+1 points)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Identify paired data in the window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Assign time to window, e.g. midpoint</a:t>
                </a:r>
                <a:r>
                  <a:rPr lang="en-US" sz="1600" dirty="0">
                    <a:solidFill>
                      <a:schemeClr val="accent2"/>
                    </a:solidFill>
                  </a:rPr>
                  <a:t> (= 5 above)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Apply function to signal in the window, e.g. for a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moving average</a:t>
                </a:r>
                <a:br>
                  <a:rPr lang="en-US" sz="1600" i="1" dirty="0">
                    <a:solidFill>
                      <a:schemeClr val="tx1"/>
                    </a:solidFill>
                  </a:rPr>
                </a:br>
                <a:endParaRPr lang="en-US" sz="800" i="1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Mean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7+2+5+9+32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US" sz="1600" dirty="0">
                  <a:solidFill>
                    <a:schemeClr val="accent2"/>
                  </a:solidFill>
                </a:endParaRP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endParaRPr lang="en-US" sz="800" dirty="0">
                  <a:solidFill>
                    <a:schemeClr val="tx1"/>
                  </a:solidFill>
                </a:endParaRP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r>
                  <a:rPr lang="en-US" sz="1600" dirty="0">
                    <a:solidFill>
                      <a:schemeClr val="tx1"/>
                    </a:solidFill>
                  </a:rPr>
                  <a:t>Add result to smoothed paired data:</a:t>
                </a:r>
                <a:r>
                  <a:rPr lang="en-US" sz="1600" dirty="0">
                    <a:solidFill>
                      <a:schemeClr val="accent2"/>
                    </a:solidFill>
                  </a:rPr>
                  <a:t> {…, {4, 5.8}, {5, 11}, …}</a:t>
                </a: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r>
                  <a:rPr lang="en-US" sz="1600" dirty="0">
                    <a:solidFill>
                      <a:schemeClr val="tx1"/>
                    </a:solidFill>
                  </a:rPr>
                  <a:t>Move window and repeat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5ECB28-3D03-B331-59AB-288003409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2" y="1948952"/>
                <a:ext cx="9080678" cy="3620433"/>
              </a:xfrm>
              <a:prstGeom prst="rect">
                <a:avLst/>
              </a:prstGeom>
              <a:blipFill>
                <a:blip r:embed="rId3"/>
                <a:stretch>
                  <a:fillRect t="-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196B63-EBDD-8616-E0E1-DB4AD8C1BC27}"/>
              </a:ext>
            </a:extLst>
          </p:cNvPr>
          <p:cNvSpPr txBox="1">
            <a:spLocks/>
          </p:cNvSpPr>
          <p:nvPr/>
        </p:nvSpPr>
        <p:spPr>
          <a:xfrm>
            <a:off x="246202" y="1103966"/>
            <a:ext cx="9080678" cy="94991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92257-B7DC-75DC-164C-B2028A918D29}"/>
              </a:ext>
            </a:extLst>
          </p:cNvPr>
          <p:cNvSpPr txBox="1"/>
          <p:nvPr/>
        </p:nvSpPr>
        <p:spPr>
          <a:xfrm>
            <a:off x="4993809" y="4501237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Mathematica: </a:t>
            </a:r>
            <a:r>
              <a:rPr lang="en-US" dirty="0" err="1">
                <a:solidFill>
                  <a:schemeClr val="accent6"/>
                </a:solidFill>
              </a:rPr>
              <a:t>MovingAverage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	    </a:t>
            </a:r>
            <a:r>
              <a:rPr lang="en-US" dirty="0" err="1">
                <a:solidFill>
                  <a:schemeClr val="accent6"/>
                </a:solidFill>
              </a:rPr>
              <a:t>MeanFilter</a:t>
            </a:r>
            <a:r>
              <a:rPr lang="en-US" dirty="0">
                <a:solidFill>
                  <a:schemeClr val="accent6"/>
                </a:solidFill>
              </a:rPr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C635F4-C027-743A-2F7B-7A647C9BB4D2}"/>
              </a:ext>
            </a:extLst>
          </p:cNvPr>
          <p:cNvSpPr txBox="1"/>
          <p:nvPr/>
        </p:nvSpPr>
        <p:spPr>
          <a:xfrm>
            <a:off x="3105202" y="685560"/>
            <a:ext cx="165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Window with width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i="1" dirty="0">
                <a:solidFill>
                  <a:schemeClr val="accent5"/>
                </a:solidFill>
              </a:rPr>
              <a:t>w = 4 at n =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0B1BA-8E91-A0BE-BB85-A74E2CEC4C0D}"/>
              </a:ext>
            </a:extLst>
          </p:cNvPr>
          <p:cNvSpPr txBox="1"/>
          <p:nvPr/>
        </p:nvSpPr>
        <p:spPr>
          <a:xfrm>
            <a:off x="1614276" y="1218351"/>
            <a:ext cx="63445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Index </a:t>
            </a:r>
            <a:r>
              <a:rPr lang="en-US" i="1" dirty="0">
                <a:solidFill>
                  <a:schemeClr val="tx1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:	1,  2,  3,  4,  5,  6,  7,   8,   9, 10, 11, 12, 13, 14, 15, …</a:t>
            </a:r>
          </a:p>
          <a:p>
            <a:r>
              <a:rPr lang="en-US" dirty="0">
                <a:solidFill>
                  <a:schemeClr val="tx1"/>
                </a:solidFill>
              </a:rPr>
              <a:t>Time </a:t>
            </a:r>
            <a:r>
              <a:rPr lang="en-US" i="1" dirty="0">
                <a:solidFill>
                  <a:schemeClr val="tx1"/>
                </a:solidFill>
              </a:rPr>
              <a:t>t</a:t>
            </a:r>
            <a:r>
              <a:rPr lang="en-US" dirty="0">
                <a:solidFill>
                  <a:schemeClr val="tx1"/>
                </a:solidFill>
              </a:rPr>
              <a:t>:	0,  1,  2,  3,  4,  5,  6,   7,   8,   9, 10, 11, 12, 13, 14, … </a:t>
            </a:r>
          </a:p>
          <a:p>
            <a:r>
              <a:rPr lang="en-US" dirty="0">
                <a:solidFill>
                  <a:schemeClr val="tx1"/>
                </a:solidFill>
              </a:rPr>
              <a:t>Signal </a:t>
            </a:r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:	3,  5,  6,  7,  2,  5,  9, 32, 42, 12, 24, 33, 46, 86, 11, …</a:t>
            </a:r>
          </a:p>
        </p:txBody>
      </p:sp>
    </p:spTree>
    <p:extLst>
      <p:ext uri="{BB962C8B-B14F-4D97-AF65-F5344CB8AC3E}">
        <p14:creationId xmlns:p14="http://schemas.microsoft.com/office/powerpoint/2010/main" val="3337510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BCF5-3846-9E1F-31F4-A226F052F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CD3FD6-0150-1687-A0FB-B9AC0FE63758}"/>
              </a:ext>
            </a:extLst>
          </p:cNvPr>
          <p:cNvSpPr/>
          <p:nvPr/>
        </p:nvSpPr>
        <p:spPr>
          <a:xfrm>
            <a:off x="3297834" y="993501"/>
            <a:ext cx="1274166" cy="36057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78393-4540-ECFB-222B-553EB5A69E2B}"/>
              </a:ext>
            </a:extLst>
          </p:cNvPr>
          <p:cNvSpPr txBox="1"/>
          <p:nvPr/>
        </p:nvSpPr>
        <p:spPr>
          <a:xfrm>
            <a:off x="2641166" y="-8969"/>
            <a:ext cx="55279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Smoothing using a moving average of different widths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9617C8F-EF2D-A1E1-AE8E-B4A342D3EEEC}"/>
              </a:ext>
            </a:extLst>
          </p:cNvPr>
          <p:cNvSpPr txBox="1">
            <a:spLocks/>
          </p:cNvSpPr>
          <p:nvPr/>
        </p:nvSpPr>
        <p:spPr>
          <a:xfrm>
            <a:off x="246202" y="1103966"/>
            <a:ext cx="9080678" cy="94991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76F3D-3E3E-9A7F-CA30-002ABE20E895}"/>
              </a:ext>
            </a:extLst>
          </p:cNvPr>
          <p:cNvSpPr txBox="1"/>
          <p:nvPr/>
        </p:nvSpPr>
        <p:spPr>
          <a:xfrm>
            <a:off x="4052784" y="4726953"/>
            <a:ext cx="3877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Mathematica: </a:t>
            </a:r>
            <a:r>
              <a:rPr lang="en-US" dirty="0" err="1">
                <a:solidFill>
                  <a:schemeClr val="accent6"/>
                </a:solidFill>
              </a:rPr>
              <a:t>MovingAverage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MeanFilter</a:t>
            </a:r>
            <a:r>
              <a:rPr lang="en-US" dirty="0">
                <a:solidFill>
                  <a:schemeClr val="accent6"/>
                </a:solidFill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C96D7-71E7-9D53-D4D1-B09479761F9E}"/>
              </a:ext>
            </a:extLst>
          </p:cNvPr>
          <p:cNvSpPr txBox="1"/>
          <p:nvPr/>
        </p:nvSpPr>
        <p:spPr>
          <a:xfrm>
            <a:off x="1614276" y="1023481"/>
            <a:ext cx="6344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Signal </a:t>
            </a:r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:	3,  5,  6,  7,  2,  5,  9, 32, 42, 12, 24, 33, 46, 86, 11,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E21DA-6833-7302-F293-5197C09823C5}"/>
              </a:ext>
            </a:extLst>
          </p:cNvPr>
          <p:cNvSpPr txBox="1"/>
          <p:nvPr/>
        </p:nvSpPr>
        <p:spPr>
          <a:xfrm>
            <a:off x="3523586" y="1339464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Window</a:t>
            </a:r>
            <a:endParaRPr lang="en-US" i="1" dirty="0">
              <a:solidFill>
                <a:schemeClr val="accent5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9AC28F-60EA-980B-E159-34A47EC06849}"/>
              </a:ext>
            </a:extLst>
          </p:cNvPr>
          <p:cNvCxnSpPr>
            <a:stCxn id="4" idx="3"/>
          </p:cNvCxnSpPr>
          <p:nvPr/>
        </p:nvCxnSpPr>
        <p:spPr>
          <a:xfrm flipV="1">
            <a:off x="4346247" y="1493352"/>
            <a:ext cx="647562" cy="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ADAA98-1A23-9707-90C4-FEBFC0C92D36}"/>
                  </a:ext>
                </a:extLst>
              </p:cNvPr>
              <p:cNvSpPr txBox="1"/>
              <p:nvPr/>
            </p:nvSpPr>
            <p:spPr>
              <a:xfrm>
                <a:off x="5816470" y="817799"/>
                <a:ext cx="4661940" cy="691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Mean</m:t>
                      </m:r>
                      <m:r>
                        <a:rPr lang="en-GB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sSub>
                            <m:sSubPr>
                              <m:ctrlPr>
                                <a:rPr lang="en-GB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ADAA98-1A23-9707-90C4-FEBFC0C92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470" y="817799"/>
                <a:ext cx="4661940" cy="691215"/>
              </a:xfrm>
              <a:prstGeom prst="rect">
                <a:avLst/>
              </a:prstGeom>
              <a:blipFill>
                <a:blip r:embed="rId3"/>
                <a:stretch>
                  <a:fillRect t="-92857" b="-148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6B84AC4-50A1-1F8E-17F5-73534E5FB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61" y="1635758"/>
            <a:ext cx="7772400" cy="302459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817999-D9C5-3E90-4300-87EEB07AAE63}"/>
              </a:ext>
            </a:extLst>
          </p:cNvPr>
          <p:cNvSpPr txBox="1"/>
          <p:nvPr/>
        </p:nvSpPr>
        <p:spPr>
          <a:xfrm>
            <a:off x="904497" y="274525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140545-4318-F0EA-BF54-34C9AD24B834}"/>
              </a:ext>
            </a:extLst>
          </p:cNvPr>
          <p:cNvSpPr txBox="1"/>
          <p:nvPr/>
        </p:nvSpPr>
        <p:spPr>
          <a:xfrm>
            <a:off x="3744047" y="2742856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  <a:r>
              <a:rPr lang="en-US" dirty="0"/>
              <a:t> = 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AC4777-A2EC-CF9B-FAE7-A8F0DE419A8F}"/>
              </a:ext>
            </a:extLst>
          </p:cNvPr>
          <p:cNvSpPr txBox="1"/>
          <p:nvPr/>
        </p:nvSpPr>
        <p:spPr>
          <a:xfrm>
            <a:off x="6453603" y="2743647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  <a:r>
              <a:rPr lang="en-US" dirty="0"/>
              <a:t> =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C09F81-5D73-2BF0-863D-313F237749DF}"/>
              </a:ext>
            </a:extLst>
          </p:cNvPr>
          <p:cNvSpPr txBox="1"/>
          <p:nvPr/>
        </p:nvSpPr>
        <p:spPr>
          <a:xfrm>
            <a:off x="1016706" y="4278002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  <a:r>
              <a:rPr lang="en-US" dirty="0"/>
              <a:t> = 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F3F6BC-F21A-AE34-32D6-44C6D9DD1450}"/>
              </a:ext>
            </a:extLst>
          </p:cNvPr>
          <p:cNvSpPr txBox="1"/>
          <p:nvPr/>
        </p:nvSpPr>
        <p:spPr>
          <a:xfrm>
            <a:off x="3644660" y="4278002"/>
            <a:ext cx="816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  <a:r>
              <a:rPr lang="en-US" dirty="0"/>
              <a:t> = 200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D2AEEB-23C9-DA66-2C5A-57F8C8C805D3}"/>
              </a:ext>
            </a:extLst>
          </p:cNvPr>
          <p:cNvSpPr txBox="1"/>
          <p:nvPr/>
        </p:nvSpPr>
        <p:spPr>
          <a:xfrm>
            <a:off x="7373728" y="4278002"/>
            <a:ext cx="915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  <a:r>
              <a:rPr lang="en-US" dirty="0"/>
              <a:t> = 1000</a:t>
            </a:r>
          </a:p>
        </p:txBody>
      </p:sp>
    </p:spTree>
    <p:extLst>
      <p:ext uri="{BB962C8B-B14F-4D97-AF65-F5344CB8AC3E}">
        <p14:creationId xmlns:p14="http://schemas.microsoft.com/office/powerpoint/2010/main" val="1011086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B4949-5183-5D10-6D0B-C2438F78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60D5E3B-2612-557B-E58C-AC6A1B26A3DE}"/>
              </a:ext>
            </a:extLst>
          </p:cNvPr>
          <p:cNvSpPr txBox="1"/>
          <p:nvPr/>
        </p:nvSpPr>
        <p:spPr>
          <a:xfrm>
            <a:off x="1990159" y="135085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Choice of smoothing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3716-BFA1-7DCB-8B1E-78796387CEE5}"/>
              </a:ext>
            </a:extLst>
          </p:cNvPr>
          <p:cNvSpPr txBox="1">
            <a:spLocks/>
          </p:cNvSpPr>
          <p:nvPr/>
        </p:nvSpPr>
        <p:spPr>
          <a:xfrm>
            <a:off x="63322" y="1261055"/>
            <a:ext cx="9080678" cy="362043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MeanFilter</a:t>
            </a:r>
            <a:r>
              <a:rPr lang="en-US" sz="1600" dirty="0">
                <a:solidFill>
                  <a:schemeClr val="tx1"/>
                </a:solidFill>
              </a:rPr>
              <a:t>	Replace data in window with mean value (moving average)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Choose width depending on which frequencies you want to remove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MedianFilter</a:t>
            </a:r>
            <a:r>
              <a:rPr lang="en-US" sz="1600" dirty="0">
                <a:solidFill>
                  <a:schemeClr val="tx1"/>
                </a:solidFill>
              </a:rPr>
              <a:t>	Replace data in window with median value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Good where there are large outliers that would skew a mean filter</a:t>
            </a:r>
          </a:p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MinFilter</a:t>
            </a:r>
            <a:r>
              <a:rPr lang="en-US" sz="1600" dirty="0">
                <a:solidFill>
                  <a:schemeClr val="tx1"/>
                </a:solidFill>
              </a:rPr>
              <a:t>	Replace data in window with minimum value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MaxFilter</a:t>
            </a:r>
            <a:r>
              <a:rPr lang="en-US" sz="1600" dirty="0">
                <a:solidFill>
                  <a:schemeClr val="tx1"/>
                </a:solidFill>
              </a:rPr>
              <a:t>	Replace data in window with maximum value</a:t>
            </a:r>
          </a:p>
        </p:txBody>
      </p:sp>
    </p:spTree>
    <p:extLst>
      <p:ext uri="{BB962C8B-B14F-4D97-AF65-F5344CB8AC3E}">
        <p14:creationId xmlns:p14="http://schemas.microsoft.com/office/powerpoint/2010/main" val="209925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9558-9DF2-F655-BB07-B72D9AFA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68E97-63D1-EE39-12EE-17625B74B2DB}"/>
              </a:ext>
            </a:extLst>
          </p:cNvPr>
          <p:cNvSpPr txBox="1">
            <a:spLocks/>
          </p:cNvSpPr>
          <p:nvPr/>
        </p:nvSpPr>
        <p:spPr>
          <a:xfrm>
            <a:off x="63322" y="714487"/>
            <a:ext cx="9080678" cy="362043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dirty="0" err="1">
                <a:solidFill>
                  <a:schemeClr val="accent6"/>
                </a:solidFill>
              </a:rPr>
              <a:t>GaussianFilter</a:t>
            </a:r>
            <a:r>
              <a:rPr lang="en-US" dirty="0">
                <a:solidFill>
                  <a:schemeClr val="tx1"/>
                </a:solidFill>
              </a:rPr>
              <a:t>	Replace data in window with a </a:t>
            </a:r>
            <a:r>
              <a:rPr lang="en-US" dirty="0">
                <a:solidFill>
                  <a:schemeClr val="accent5"/>
                </a:solidFill>
              </a:rPr>
              <a:t>weighted average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Weighting function is a Gaussian centered on the middle of the window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(Compare with a step function for the mean filter)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Width is the standard deviation of the Gaussian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C5E79-434B-FF65-8CB6-AF48647AE113}"/>
              </a:ext>
            </a:extLst>
          </p:cNvPr>
          <p:cNvSpPr txBox="1"/>
          <p:nvPr/>
        </p:nvSpPr>
        <p:spPr>
          <a:xfrm>
            <a:off x="241834" y="1701675"/>
            <a:ext cx="4744386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Compare with </a:t>
            </a:r>
            <a:r>
              <a:rPr lang="en-US" dirty="0" err="1">
                <a:solidFill>
                  <a:schemeClr val="accent6"/>
                </a:solidFill>
              </a:rPr>
              <a:t>MeanFilter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buClrTx/>
            </a:pPr>
            <a:endParaRPr lang="en-US" sz="800" dirty="0">
              <a:solidFill>
                <a:schemeClr val="tx1"/>
              </a:solidFill>
            </a:endParaRP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More weight at middle of window</a:t>
            </a: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Individual points do not suddenly enter and leave the window	</a:t>
            </a: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Individual points exert an influence over a larger range of smoothed points</a:t>
            </a: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Smoothing is “gentler”</a:t>
            </a: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Preserves sharp changes better</a:t>
            </a: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Includes whole time series in each sum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C0158-8962-0C0F-A1D5-2D472F1912D3}"/>
              </a:ext>
            </a:extLst>
          </p:cNvPr>
          <p:cNvSpPr txBox="1"/>
          <p:nvPr/>
        </p:nvSpPr>
        <p:spPr>
          <a:xfrm>
            <a:off x="241834" y="3861952"/>
            <a:ext cx="97127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 err="1">
                <a:solidFill>
                  <a:schemeClr val="accent6"/>
                </a:solidFill>
              </a:rPr>
              <a:t>GradientFilter</a:t>
            </a:r>
            <a:r>
              <a:rPr lang="en-US" dirty="0">
                <a:solidFill>
                  <a:schemeClr val="tx1"/>
                </a:solidFill>
              </a:rPr>
              <a:t>	Replace data with an approximation of the gradient of the time series at each point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Mathematica </a:t>
            </a:r>
            <a:r>
              <a:rPr lang="en-US" dirty="0" err="1">
                <a:solidFill>
                  <a:schemeClr val="tx1"/>
                </a:solidFill>
              </a:rPr>
              <a:t>smoothes</a:t>
            </a:r>
            <a:r>
              <a:rPr lang="en-US" dirty="0">
                <a:solidFill>
                  <a:schemeClr val="tx1"/>
                </a:solidFill>
              </a:rPr>
              <a:t> using the </a:t>
            </a:r>
            <a:r>
              <a:rPr lang="en-US" dirty="0">
                <a:solidFill>
                  <a:schemeClr val="accent5"/>
                </a:solidFill>
              </a:rPr>
              <a:t>gradient of the Gaussian function </a:t>
            </a:r>
            <a:r>
              <a:rPr lang="en-US" dirty="0">
                <a:solidFill>
                  <a:schemeClr val="tx1"/>
                </a:solidFill>
              </a:rPr>
              <a:t>as the weights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Use when you want to find where the time series changes rapidly</a:t>
            </a:r>
          </a:p>
          <a:p>
            <a:pPr>
              <a:buClrTx/>
            </a:pPr>
            <a:r>
              <a:rPr lang="en-US" sz="1000" dirty="0">
                <a:solidFill>
                  <a:schemeClr val="accent6"/>
                </a:solidFill>
              </a:rPr>
              <a:t>		</a:t>
            </a:r>
          </a:p>
          <a:p>
            <a:pPr>
              <a:buClrTx/>
            </a:pPr>
            <a:r>
              <a:rPr lang="en-US" dirty="0">
                <a:solidFill>
                  <a:schemeClr val="accent6"/>
                </a:solidFill>
              </a:rPr>
              <a:t>			</a:t>
            </a:r>
            <a:r>
              <a:rPr lang="en-US" dirty="0" err="1">
                <a:solidFill>
                  <a:schemeClr val="accent6"/>
                </a:solidFill>
              </a:rPr>
              <a:t>LaplacianFilter</a:t>
            </a:r>
            <a:r>
              <a:rPr lang="en-US" dirty="0">
                <a:solidFill>
                  <a:schemeClr val="tx1"/>
                </a:solidFill>
              </a:rPr>
              <a:t>: 	Similar effect, replacing data with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			its approximate second derivative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7D8BAE-779C-BDD0-4F03-DE8F01B66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585" y="1652000"/>
            <a:ext cx="4349093" cy="21888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F55E09-B5EA-8588-2357-87BE0A4E809D}"/>
              </a:ext>
            </a:extLst>
          </p:cNvPr>
          <p:cNvSpPr txBox="1"/>
          <p:nvPr/>
        </p:nvSpPr>
        <p:spPr>
          <a:xfrm>
            <a:off x="1990159" y="135085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Choice of smoothing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6D931-C207-CC5D-6497-67B16026A639}"/>
              </a:ext>
            </a:extLst>
          </p:cNvPr>
          <p:cNvSpPr txBox="1"/>
          <p:nvPr/>
        </p:nvSpPr>
        <p:spPr>
          <a:xfrm>
            <a:off x="-14288" y="4854526"/>
            <a:ext cx="24029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sz="1400" dirty="0">
                <a:solidFill>
                  <a:schemeClr val="accent6"/>
                </a:solidFill>
              </a:rPr>
              <a:t>Example: 03_smoothing.nb</a:t>
            </a:r>
          </a:p>
        </p:txBody>
      </p:sp>
    </p:spTree>
    <p:extLst>
      <p:ext uri="{BB962C8B-B14F-4D97-AF65-F5344CB8AC3E}">
        <p14:creationId xmlns:p14="http://schemas.microsoft.com/office/powerpoint/2010/main" val="357536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2C7FA-DE3A-AA78-EABA-7F990267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D562805-7618-654F-07B9-1EDA0751CA5C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Autocorrelation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6CA70F-04D0-FFBA-36EF-2ED3DA91CB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0568" y="941791"/>
                <a:ext cx="8573068" cy="377458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a</a:t>
                </a:r>
                <a:r>
                  <a:rPr lang="en-US" sz="1600" dirty="0">
                    <a:solidFill>
                      <a:schemeClr val="tx1"/>
                    </a:solidFill>
                  </a:rPr>
                  <a:t>uto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c</a:t>
                </a:r>
                <a:r>
                  <a:rPr lang="en-US" sz="1600" dirty="0">
                    <a:solidFill>
                      <a:schemeClr val="tx1"/>
                    </a:solidFill>
                  </a:rPr>
                  <a:t>orrelation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f</a:t>
                </a:r>
                <a:r>
                  <a:rPr lang="en-US" sz="1600" dirty="0">
                    <a:solidFill>
                      <a:schemeClr val="tx1"/>
                    </a:solidFill>
                  </a:rPr>
                  <a:t>unction (ACF) is the correlation between a time series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with a delayed (shifted) copy of itself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The ACF is a function of 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delay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600" dirty="0">
                    <a:solidFill>
                      <a:schemeClr val="accent5"/>
                    </a:solidFill>
                  </a:rPr>
                  <a:t>.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It is used to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</a:rPr>
                  <a:t>Find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repeating patterns </a:t>
                </a:r>
                <a:r>
                  <a:rPr lang="en-US" sz="1600" dirty="0">
                    <a:solidFill>
                      <a:schemeClr val="tx1"/>
                    </a:solidFill>
                  </a:rPr>
                  <a:t>in noisy data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</a:rPr>
                  <a:t>Quantify the “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memory</a:t>
                </a:r>
                <a:r>
                  <a:rPr lang="en-US" sz="1600" dirty="0">
                    <a:solidFill>
                      <a:schemeClr val="tx1"/>
                    </a:solidFill>
                  </a:rPr>
                  <a:t>” of a particular time series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accent5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It is 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Pearson correlation coefficient </a:t>
                </a:r>
                <a:r>
                  <a:rPr lang="en-US" sz="1600" dirty="0">
                    <a:solidFill>
                      <a:schemeClr val="tx1"/>
                    </a:solidFill>
                  </a:rPr>
                  <a:t>between values of the process at different times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accent5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accent6"/>
                    </a:solidFill>
                  </a:rPr>
                  <a:t>Mathematica: </a:t>
                </a:r>
                <a:r>
                  <a:rPr lang="en-US" sz="1600" dirty="0" err="1">
                    <a:solidFill>
                      <a:schemeClr val="accent6"/>
                    </a:solidFill>
                  </a:rPr>
                  <a:t>CorrelationFunction</a:t>
                </a:r>
                <a:endParaRPr lang="en-US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6CA70F-04D0-FFBA-36EF-2ED3DA91C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68" y="941791"/>
                <a:ext cx="8573068" cy="3774588"/>
              </a:xfrm>
              <a:prstGeom prst="rect">
                <a:avLst/>
              </a:prstGeom>
              <a:blipFill>
                <a:blip r:embed="rId3"/>
                <a:stretch>
                  <a:fillRect t="-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70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984EB-8AFD-CD91-7ED0-F8ABA8DB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6CC6519-3924-81E6-33F6-707A22195377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Autocorrelation</a:t>
            </a:r>
            <a:endParaRPr lang="en-GB" sz="20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C8D037-5C5C-34FE-36DD-BD03BE382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74" y="746936"/>
            <a:ext cx="4275889" cy="18478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AE7838-9505-E15A-9B93-7A323784E221}"/>
              </a:ext>
            </a:extLst>
          </p:cNvPr>
          <p:cNvSpPr txBox="1"/>
          <p:nvPr/>
        </p:nvSpPr>
        <p:spPr>
          <a:xfrm>
            <a:off x="2245827" y="923398"/>
            <a:ext cx="1717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time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844D2F-957B-8442-A0BA-4086834B184D}"/>
                  </a:ext>
                </a:extLst>
              </p:cNvPr>
              <p:cNvSpPr txBox="1"/>
              <p:nvPr/>
            </p:nvSpPr>
            <p:spPr>
              <a:xfrm>
                <a:off x="1559606" y="2648150"/>
                <a:ext cx="365407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Delay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GB" dirty="0"/>
                  <a:t> </a:t>
                </a:r>
                <a:r>
                  <a:rPr lang="en-US" dirty="0"/>
                  <a:t>(continuous time)</a:t>
                </a:r>
              </a:p>
              <a:p>
                <a:r>
                  <a:rPr lang="en-US" dirty="0"/>
                  <a:t>Shift </a:t>
                </a:r>
                <a:r>
                  <a:rPr lang="en-US" i="1" dirty="0"/>
                  <a:t>h </a:t>
                </a:r>
                <a:r>
                  <a:rPr lang="en-US" dirty="0"/>
                  <a:t>(discrete time points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844D2F-957B-8442-A0BA-4086834B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606" y="2648150"/>
                <a:ext cx="3654078" cy="738664"/>
              </a:xfrm>
              <a:prstGeom prst="rect">
                <a:avLst/>
              </a:prstGeom>
              <a:blipFill>
                <a:blip r:embed="rId4"/>
                <a:stretch>
                  <a:fillRect l="-346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54888B-52ED-81C8-50C4-283896E0CCA5}"/>
                  </a:ext>
                </a:extLst>
              </p:cNvPr>
              <p:cNvSpPr txBox="1"/>
              <p:nvPr/>
            </p:nvSpPr>
            <p:spPr>
              <a:xfrm>
                <a:off x="3589716" y="2720874"/>
                <a:ext cx="13903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54888B-52ED-81C8-50C4-283896E0C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716" y="2720874"/>
                <a:ext cx="139031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B349DD5-1248-653E-66F4-55F0CE3E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42" y="3224711"/>
            <a:ext cx="4275889" cy="18478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434505-7384-1AC1-6A77-20B1A34F3FB4}"/>
              </a:ext>
            </a:extLst>
          </p:cNvPr>
          <p:cNvSpPr txBox="1"/>
          <p:nvPr/>
        </p:nvSpPr>
        <p:spPr>
          <a:xfrm>
            <a:off x="3100400" y="3419761"/>
            <a:ext cx="1757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Delayed time series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4FF38C-6626-C815-7B86-EBDFCF997524}"/>
              </a:ext>
            </a:extLst>
          </p:cNvPr>
          <p:cNvCxnSpPr/>
          <p:nvPr/>
        </p:nvCxnSpPr>
        <p:spPr>
          <a:xfrm>
            <a:off x="689811" y="2870068"/>
            <a:ext cx="818147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D71A11-133B-FAB2-0C54-0FD9E2C45B62}"/>
                  </a:ext>
                </a:extLst>
              </p:cNvPr>
              <p:cNvSpPr txBox="1"/>
              <p:nvPr/>
            </p:nvSpPr>
            <p:spPr>
              <a:xfrm>
                <a:off x="5129805" y="1354139"/>
                <a:ext cx="3769829" cy="7389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D71A11-133B-FAB2-0C54-0FD9E2C45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9805" y="1354139"/>
                <a:ext cx="3769829" cy="738920"/>
              </a:xfrm>
              <a:prstGeom prst="rect">
                <a:avLst/>
              </a:prstGeom>
              <a:blipFill>
                <a:blip r:embed="rId6"/>
                <a:stretch>
                  <a:fillRect t="-66102" r="-1010" b="-10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393ED8-DA2E-1CD9-A09A-3A293207C328}"/>
                  </a:ext>
                </a:extLst>
              </p:cNvPr>
              <p:cNvSpPr txBox="1"/>
              <p:nvPr/>
            </p:nvSpPr>
            <p:spPr>
              <a:xfrm>
                <a:off x="6199098" y="2580512"/>
                <a:ext cx="2089392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∈[−1, 1]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393ED8-DA2E-1CD9-A09A-3A293207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098" y="2580512"/>
                <a:ext cx="2089392" cy="413511"/>
              </a:xfrm>
              <a:prstGeom prst="rect">
                <a:avLst/>
              </a:prstGeom>
              <a:blipFill>
                <a:blip r:embed="rId7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4FE4197-4922-406D-8331-5CB6B9D413E0}"/>
              </a:ext>
            </a:extLst>
          </p:cNvPr>
          <p:cNvSpPr txBox="1"/>
          <p:nvPr/>
        </p:nvSpPr>
        <p:spPr>
          <a:xfrm>
            <a:off x="5632489" y="844312"/>
            <a:ext cx="2592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correlation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77CBCC-DB13-82F6-207D-D510530A1B8A}"/>
                  </a:ext>
                </a:extLst>
              </p:cNvPr>
              <p:cNvSpPr txBox="1"/>
              <p:nvPr/>
            </p:nvSpPr>
            <p:spPr>
              <a:xfrm>
                <a:off x="5995494" y="3050442"/>
                <a:ext cx="2761590" cy="119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   Perfectly correlated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Uncorrelated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=−1  </m:t>
                    </m:r>
                  </m:oMath>
                </a14:m>
                <a:r>
                  <a:rPr lang="en-US" dirty="0"/>
                  <a:t>Anticorrelated</a:t>
                </a:r>
              </a:p>
              <a:p>
                <a:endParaRPr lang="en-US" dirty="0"/>
              </a:p>
              <a:p>
                <a:r>
                  <a:rPr lang="en-US" dirty="0"/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always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77CBCC-DB13-82F6-207D-D510530A1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494" y="3050442"/>
                <a:ext cx="2761590" cy="1197828"/>
              </a:xfrm>
              <a:prstGeom prst="rect">
                <a:avLst/>
              </a:prstGeom>
              <a:blipFill>
                <a:blip r:embed="rId8"/>
                <a:stretch>
                  <a:fillRect l="-917" t="-2105" b="-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30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  <p:bldP spid="15" grpId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DAF79-DC23-BB5B-679A-9257BA89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375A4C3-53BF-1138-947D-DBC6F32E29AB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Autocorrelation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43FC7-9F08-2691-8796-62AF13F7F104}"/>
              </a:ext>
            </a:extLst>
          </p:cNvPr>
          <p:cNvSpPr txBox="1"/>
          <p:nvPr/>
        </p:nvSpPr>
        <p:spPr>
          <a:xfrm>
            <a:off x="1877093" y="973979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109BEB-BC26-CA5C-C2AA-BBCDD65B9956}"/>
              </a:ext>
            </a:extLst>
          </p:cNvPr>
          <p:cNvSpPr txBox="1"/>
          <p:nvPr/>
        </p:nvSpPr>
        <p:spPr>
          <a:xfrm>
            <a:off x="5830745" y="974943"/>
            <a:ext cx="206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Autocorrelation function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C26B9B-4D0D-FDE4-83AA-E17B9FD4A6E7}"/>
              </a:ext>
            </a:extLst>
          </p:cNvPr>
          <p:cNvSpPr txBox="1"/>
          <p:nvPr/>
        </p:nvSpPr>
        <p:spPr>
          <a:xfrm>
            <a:off x="3069170" y="4716680"/>
            <a:ext cx="3695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Example: 04a_autocorrelation_hands_on.nb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813B3B-DC25-6568-4DD8-1F42B2EC48AD}"/>
                  </a:ext>
                </a:extLst>
              </p:cNvPr>
              <p:cNvSpPr txBox="1"/>
              <p:nvPr/>
            </p:nvSpPr>
            <p:spPr>
              <a:xfrm>
                <a:off x="8698193" y="3668785"/>
                <a:ext cx="4881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813B3B-DC25-6568-4DD8-1F42B2EC4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193" y="3668785"/>
                <a:ext cx="488139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A5C483B-D766-BC88-B065-BFE238DE8E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788" y="1397333"/>
            <a:ext cx="4280211" cy="24728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D46263-8249-43D2-0F91-ABB8B136E1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4268" y="1398789"/>
            <a:ext cx="3977944" cy="247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21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1AF93-2915-427E-7785-660C0E3A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9FA64E3-2A25-6A43-7E39-AF4A318C03EE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Cross-correlation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FC6175-FF7D-4DB5-FCE0-F70B0B2F95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3736" y="829606"/>
                <a:ext cx="8970264" cy="377458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Similar to autocorrelation but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compares two different time series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with each other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The cross-correlation function (XCF) is also a function of 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delay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600" dirty="0">
                    <a:solidFill>
                      <a:schemeClr val="accent5"/>
                    </a:solidFill>
                  </a:rPr>
                  <a:t>.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It is used to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</a:rPr>
                  <a:t>Find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repeating patterns </a:t>
                </a:r>
                <a:r>
                  <a:rPr lang="en-US" sz="1600" dirty="0">
                    <a:solidFill>
                      <a:schemeClr val="tx1"/>
                    </a:solidFill>
                  </a:rPr>
                  <a:t>between different time series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</a:rPr>
                  <a:t>Find a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short, known pattern </a:t>
                </a:r>
                <a:r>
                  <a:rPr lang="en-US" sz="1600" dirty="0">
                    <a:solidFill>
                      <a:schemeClr val="tx1"/>
                    </a:solidFill>
                  </a:rPr>
                  <a:t>within a longer time series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</a:rPr>
                  <a:t>Identify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time delays </a:t>
                </a:r>
                <a:r>
                  <a:rPr lang="en-US" sz="1600" dirty="0">
                    <a:solidFill>
                      <a:schemeClr val="tx1"/>
                    </a:solidFill>
                  </a:rPr>
                  <a:t>between two time series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accent5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It is 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Pearson correlation coefficient </a:t>
                </a:r>
                <a:r>
                  <a:rPr lang="en-US" sz="1600" dirty="0">
                    <a:solidFill>
                      <a:schemeClr val="tx1"/>
                    </a:solidFill>
                  </a:rPr>
                  <a:t>between the time series as a function of delay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accent5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accent6"/>
                    </a:solidFill>
                  </a:rPr>
                  <a:t>Mathematica: </a:t>
                </a:r>
                <a:r>
                  <a:rPr lang="en-US" sz="1600" dirty="0" err="1">
                    <a:solidFill>
                      <a:schemeClr val="accent6"/>
                    </a:solidFill>
                  </a:rPr>
                  <a:t>CorrelationFunction</a:t>
                </a:r>
                <a:endParaRPr lang="en-US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FC6175-FF7D-4DB5-FCE0-F70B0B2F9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829606"/>
                <a:ext cx="8970264" cy="3774588"/>
              </a:xfrm>
              <a:prstGeom prst="rect">
                <a:avLst/>
              </a:prstGeom>
              <a:blipFill>
                <a:blip r:embed="rId3"/>
                <a:stretch>
                  <a:fillRect t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E7D2D7-E11F-C50D-4639-CB82EC8C7D28}"/>
                  </a:ext>
                </a:extLst>
              </p:cNvPr>
              <p:cNvSpPr txBox="1"/>
              <p:nvPr/>
            </p:nvSpPr>
            <p:spPr>
              <a:xfrm>
                <a:off x="3803904" y="3586351"/>
                <a:ext cx="5166360" cy="1017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E7D2D7-E11F-C50D-4639-CB82EC8C7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904" y="3586351"/>
                <a:ext cx="5166360" cy="1017843"/>
              </a:xfrm>
              <a:prstGeom prst="rect">
                <a:avLst/>
              </a:prstGeom>
              <a:blipFill>
                <a:blip r:embed="rId4"/>
                <a:stretch>
                  <a:fillRect t="-48148" b="-6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7754CD-AD60-CDEC-45E4-8A2E1CFC9EFC}"/>
                  </a:ext>
                </a:extLst>
              </p:cNvPr>
              <p:cNvSpPr txBox="1"/>
              <p:nvPr/>
            </p:nvSpPr>
            <p:spPr>
              <a:xfrm>
                <a:off x="3858768" y="4585906"/>
                <a:ext cx="2089392" cy="424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∈[−1, 1]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7754CD-AD60-CDEC-45E4-8A2E1CFC9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768" y="4585906"/>
                <a:ext cx="2089392" cy="424283"/>
              </a:xfrm>
              <a:prstGeom prst="rect">
                <a:avLst/>
              </a:prstGeom>
              <a:blipFill>
                <a:blip r:embed="rId5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50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94A7-D22F-8EC4-9514-A014A3A2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FA343BE-1899-0021-52E4-FC0FCA995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07909"/>
            <a:ext cx="4343400" cy="2567432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68F367-ACB1-AE35-E1EE-A699833F0BB6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Cross-correlation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A6113E-F65D-1634-9751-5DC5BAF30626}"/>
              </a:ext>
            </a:extLst>
          </p:cNvPr>
          <p:cNvSpPr txBox="1"/>
          <p:nvPr/>
        </p:nvSpPr>
        <p:spPr>
          <a:xfrm>
            <a:off x="1547798" y="891891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time series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60D5F-00E0-3A6A-3F09-3C31B3D272B1}"/>
              </a:ext>
            </a:extLst>
          </p:cNvPr>
          <p:cNvSpPr txBox="1"/>
          <p:nvPr/>
        </p:nvSpPr>
        <p:spPr>
          <a:xfrm>
            <a:off x="5631857" y="891891"/>
            <a:ext cx="2223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Cross-correlation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58005D-F93C-BC5D-2ED9-714B18A44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07909"/>
            <a:ext cx="4097451" cy="2549525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52E798-9BCE-1CA5-1D1A-65F2B762F035}"/>
              </a:ext>
            </a:extLst>
          </p:cNvPr>
          <p:cNvSpPr txBox="1"/>
          <p:nvPr/>
        </p:nvSpPr>
        <p:spPr>
          <a:xfrm>
            <a:off x="2684303" y="4587098"/>
            <a:ext cx="3775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Example: 05a_crosscorrelation_hands_on.nb</a:t>
            </a:r>
          </a:p>
        </p:txBody>
      </p:sp>
    </p:spTree>
    <p:extLst>
      <p:ext uri="{BB962C8B-B14F-4D97-AF65-F5344CB8AC3E}">
        <p14:creationId xmlns:p14="http://schemas.microsoft.com/office/powerpoint/2010/main" val="1394912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6E727-CA37-6EAB-40B9-76AAB370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340255F-14C1-1B70-3786-8E1661AEF7FD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Spectral Analysis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B6E5B-2A28-509F-2CF7-7895EA9DEE3D}"/>
              </a:ext>
            </a:extLst>
          </p:cNvPr>
          <p:cNvSpPr txBox="1">
            <a:spLocks/>
          </p:cNvSpPr>
          <p:nvPr/>
        </p:nvSpPr>
        <p:spPr>
          <a:xfrm>
            <a:off x="1556027" y="3393830"/>
            <a:ext cx="6139508" cy="176521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Is the signal dominated by </a:t>
            </a:r>
            <a:r>
              <a:rPr lang="en-GB" sz="1600" dirty="0">
                <a:solidFill>
                  <a:schemeClr val="accent5"/>
                </a:solidFill>
              </a:rPr>
              <a:t>particular frequencies</a:t>
            </a:r>
            <a:r>
              <a:rPr lang="en-GB" sz="1600" dirty="0">
                <a:solidFill>
                  <a:schemeClr val="tx1"/>
                </a:solidFill>
              </a:rPr>
              <a:t>?</a:t>
            </a:r>
          </a:p>
          <a:p>
            <a:pPr>
              <a:buClrTx/>
            </a:pPr>
            <a:endParaRPr lang="en-GB" sz="8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What is the relative strength of these particular frequencies?</a:t>
            </a:r>
          </a:p>
          <a:p>
            <a:pPr>
              <a:buClrTx/>
            </a:pPr>
            <a:endParaRPr lang="en-GB" sz="8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The main power of spectral analysis is that any signal (discrete or continuous) can be decomposed into </a:t>
            </a:r>
            <a:r>
              <a:rPr lang="en-GB" sz="1600" dirty="0">
                <a:solidFill>
                  <a:schemeClr val="accent5"/>
                </a:solidFill>
              </a:rPr>
              <a:t>a sum of oscillations </a:t>
            </a:r>
            <a:r>
              <a:rPr lang="en-GB" sz="1600" dirty="0">
                <a:solidFill>
                  <a:schemeClr val="tx1"/>
                </a:solidFill>
              </a:rPr>
              <a:t>with different frequencies</a:t>
            </a:r>
            <a:endParaRPr lang="en-US" sz="1600" dirty="0">
              <a:solidFill>
                <a:schemeClr val="accent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E3759-A26B-FAE9-1FC5-2C132D8A8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82" y="921466"/>
            <a:ext cx="3808291" cy="2399325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6E3469-54AD-0B63-443B-E3D401625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675" y="921466"/>
            <a:ext cx="4008748" cy="2399325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A240BD-8F7A-A0BF-794D-8CEE2B1D2E62}"/>
              </a:ext>
            </a:extLst>
          </p:cNvPr>
          <p:cNvSpPr txBox="1"/>
          <p:nvPr/>
        </p:nvSpPr>
        <p:spPr>
          <a:xfrm>
            <a:off x="1556027" y="556192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94946-38AA-4105-91DD-B962111C1958}"/>
              </a:ext>
            </a:extLst>
          </p:cNvPr>
          <p:cNvSpPr txBox="1"/>
          <p:nvPr/>
        </p:nvSpPr>
        <p:spPr>
          <a:xfrm>
            <a:off x="6452023" y="556192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Spectrum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89E9A1-7DB8-367A-2CBA-F9900A4529B0}"/>
              </a:ext>
            </a:extLst>
          </p:cNvPr>
          <p:cNvCxnSpPr/>
          <p:nvPr/>
        </p:nvCxnSpPr>
        <p:spPr>
          <a:xfrm>
            <a:off x="4072125" y="2121128"/>
            <a:ext cx="799915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8D0EB5-7763-B397-E6D5-8DDFB2FA0AA2}"/>
              </a:ext>
            </a:extLst>
          </p:cNvPr>
          <p:cNvSpPr txBox="1"/>
          <p:nvPr/>
        </p:nvSpPr>
        <p:spPr>
          <a:xfrm>
            <a:off x="3946488" y="1597908"/>
            <a:ext cx="1051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Fourier transform</a:t>
            </a:r>
          </a:p>
        </p:txBody>
      </p:sp>
    </p:spTree>
    <p:extLst>
      <p:ext uri="{BB962C8B-B14F-4D97-AF65-F5344CB8AC3E}">
        <p14:creationId xmlns:p14="http://schemas.microsoft.com/office/powerpoint/2010/main" val="2246016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CF99-454F-0979-35E4-BAEEFAD4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F040E7-8B65-0F93-B347-58AB33B9D72A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Fourier series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C49B9-C3B0-255D-C4A0-60F2759BE9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9240" y="2571750"/>
                <a:ext cx="8514396" cy="2571750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Any periodic function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with period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can be written as an infinite Fourier series, a sum of sine and cosine functions (plus a constant).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Using complex numbers: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f>
                                    <m:fPr>
                                      <m:ctrlP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Or using real numbers only: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f>
                                    <m:fPr>
                                      <m:ctrlP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16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f>
                                    <m:fPr>
                                      <m:ctrlP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C49B9-C3B0-255D-C4A0-60F2759BE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40" y="2571750"/>
                <a:ext cx="8514396" cy="2571750"/>
              </a:xfrm>
              <a:prstGeom prst="rect">
                <a:avLst/>
              </a:prstGeom>
              <a:blipFill>
                <a:blip r:embed="rId3"/>
                <a:stretch>
                  <a:fillRect t="-2451" r="-596" b="-38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8956EDC0-E666-2692-71B8-D3E314AB6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23532"/>
            <a:ext cx="7772400" cy="15819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22E967-F9C7-7722-7CEB-FF4654273E4D}"/>
                  </a:ext>
                </a:extLst>
              </p:cNvPr>
              <p:cNvSpPr txBox="1"/>
              <p:nvPr/>
            </p:nvSpPr>
            <p:spPr>
              <a:xfrm>
                <a:off x="6977413" y="3272849"/>
                <a:ext cx="2166587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coefficients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complex</a:t>
                </a:r>
              </a:p>
              <a:p>
                <a:endParaRPr lang="en-US" dirty="0"/>
              </a:p>
              <a:p>
                <a:r>
                  <a:rPr lang="en-US" dirty="0"/>
                  <a:t>The coefficients 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real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22E967-F9C7-7722-7CEB-FF4654273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413" y="3272849"/>
                <a:ext cx="2166587" cy="1169551"/>
              </a:xfrm>
              <a:prstGeom prst="rect">
                <a:avLst/>
              </a:prstGeom>
              <a:blipFill>
                <a:blip r:embed="rId5"/>
                <a:stretch>
                  <a:fillRect l="-1170" t="-1075" b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09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97663-4093-00FA-900D-89AC0457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CFCC927-17FD-AE2F-C02B-C0E235B0338E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Fourier series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E54D01-BFD3-08B6-C8E0-3FF902AF15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405444"/>
                <a:ext cx="9144000" cy="25717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The coefficients (or Fourier modes) are defined by integrals over a single period: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func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endParaRPr lang="en-GB" sz="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f>
                                <m:f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GB" sz="16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f>
                                <m:f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E54D01-BFD3-08B6-C8E0-3FF902AF1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5444"/>
                <a:ext cx="9144000" cy="2571750"/>
              </a:xfrm>
              <a:prstGeom prst="rect">
                <a:avLst/>
              </a:prstGeom>
              <a:blipFill>
                <a:blip r:embed="rId3"/>
                <a:stretch>
                  <a:fillRect t="-14286" b="-34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9DD951C-48F8-26FA-0836-E62EBD7B6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23532"/>
            <a:ext cx="7772400" cy="15819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FF27BA-4B6B-4DCB-BB00-017080D78D96}"/>
                  </a:ext>
                </a:extLst>
              </p:cNvPr>
              <p:cNvSpPr txBox="1"/>
              <p:nvPr/>
            </p:nvSpPr>
            <p:spPr>
              <a:xfrm>
                <a:off x="1737292" y="4404836"/>
                <a:ext cx="388689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real</a:t>
                </a:r>
              </a:p>
              <a:p>
                <a:r>
                  <a:rPr lang="en-US" dirty="0"/>
                  <a:t>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the average value of the time series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FF27BA-4B6B-4DCB-BB00-017080D78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292" y="4404836"/>
                <a:ext cx="3886899" cy="738664"/>
              </a:xfrm>
              <a:prstGeom prst="rect">
                <a:avLst/>
              </a:prstGeom>
              <a:blipFill>
                <a:blip r:embed="rId5"/>
                <a:stretch>
                  <a:fillRect l="-32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C648DC-A78C-7DFF-9A6F-114DA42A8EF1}"/>
                  </a:ext>
                </a:extLst>
              </p:cNvPr>
              <p:cNvSpPr txBox="1"/>
              <p:nvPr/>
            </p:nvSpPr>
            <p:spPr>
              <a:xfrm>
                <a:off x="6904495" y="3154999"/>
                <a:ext cx="17745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0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complex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C648DC-A78C-7DFF-9A6F-114DA42A8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495" y="3154999"/>
                <a:ext cx="1774556" cy="307777"/>
              </a:xfrm>
              <a:prstGeom prst="rect">
                <a:avLst/>
              </a:prstGeom>
              <a:blipFill>
                <a:blip r:embed="rId6"/>
                <a:stretch>
                  <a:fillRect l="-1418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27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F344B-6F19-82A0-DD31-07D7D33D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D7A46B6-77D7-96F3-8264-96E6965F38CD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Fourier series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BC49D-1E08-C6C7-6678-A23FAFADE8C3}"/>
              </a:ext>
            </a:extLst>
          </p:cNvPr>
          <p:cNvSpPr txBox="1">
            <a:spLocks/>
          </p:cNvSpPr>
          <p:nvPr/>
        </p:nvSpPr>
        <p:spPr>
          <a:xfrm>
            <a:off x="0" y="886610"/>
            <a:ext cx="9144000" cy="257175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Adding more sine/cosine functions approximates the signal better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A0483-BF80-8177-2E7E-07EC58A05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05" y="1314988"/>
            <a:ext cx="2991703" cy="17867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EC3B64-2A57-EAC2-9A91-E107288AF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113" y="1264106"/>
            <a:ext cx="2991702" cy="17867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747F2F-A9F7-9836-45DF-0A823E057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005" y="3016483"/>
            <a:ext cx="2991703" cy="1786712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610AE3-6975-7069-35FA-DABD7DC81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466" y="3016483"/>
            <a:ext cx="2991702" cy="17867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41FD17-E973-6FD4-313E-3B6F74B57205}"/>
              </a:ext>
            </a:extLst>
          </p:cNvPr>
          <p:cNvSpPr txBox="1"/>
          <p:nvPr/>
        </p:nvSpPr>
        <p:spPr>
          <a:xfrm>
            <a:off x="1845780" y="4833533"/>
            <a:ext cx="5735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also animations at 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Fourier_transform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969B4F-BBA1-A87C-41D5-AC4158645BEE}"/>
              </a:ext>
            </a:extLst>
          </p:cNvPr>
          <p:cNvSpPr txBox="1"/>
          <p:nvPr/>
        </p:nvSpPr>
        <p:spPr>
          <a:xfrm>
            <a:off x="6462794" y="920703"/>
            <a:ext cx="2542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Example: 06_sin_comb_fft.nb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AE89CC-60FF-69CE-A999-8704A2F6D33D}"/>
              </a:ext>
            </a:extLst>
          </p:cNvPr>
          <p:cNvSpPr txBox="1"/>
          <p:nvPr/>
        </p:nvSpPr>
        <p:spPr>
          <a:xfrm>
            <a:off x="1703754" y="1549830"/>
            <a:ext cx="284052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4DCFA-5D93-3658-AA11-B5971305D3D1}"/>
              </a:ext>
            </a:extLst>
          </p:cNvPr>
          <p:cNvSpPr txBox="1"/>
          <p:nvPr/>
        </p:nvSpPr>
        <p:spPr>
          <a:xfrm>
            <a:off x="5050656" y="1549829"/>
            <a:ext cx="284052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7DF6B-C9FB-6A0A-E302-5350A8AC35B9}"/>
              </a:ext>
            </a:extLst>
          </p:cNvPr>
          <p:cNvSpPr txBox="1"/>
          <p:nvPr/>
        </p:nvSpPr>
        <p:spPr>
          <a:xfrm>
            <a:off x="3554804" y="3304471"/>
            <a:ext cx="284052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8E77DE-54AF-8798-B62F-F57A5D7F2CAB}"/>
              </a:ext>
            </a:extLst>
          </p:cNvPr>
          <p:cNvSpPr txBox="1"/>
          <p:nvPr/>
        </p:nvSpPr>
        <p:spPr>
          <a:xfrm>
            <a:off x="6714586" y="3307777"/>
            <a:ext cx="38343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9258A3-D9D1-7D72-93BD-8528917AF8BD}"/>
              </a:ext>
            </a:extLst>
          </p:cNvPr>
          <p:cNvSpPr txBox="1"/>
          <p:nvPr/>
        </p:nvSpPr>
        <p:spPr>
          <a:xfrm>
            <a:off x="7951926" y="2801039"/>
            <a:ext cx="11544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“Gibbs phenomenon”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4FD842-D62B-8BE1-5C7D-07C447B2A202}"/>
              </a:ext>
            </a:extLst>
          </p:cNvPr>
          <p:cNvCxnSpPr/>
          <p:nvPr/>
        </p:nvCxnSpPr>
        <p:spPr>
          <a:xfrm flipH="1">
            <a:off x="8107680" y="3016483"/>
            <a:ext cx="421488" cy="351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48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7" grpId="0" animBg="1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5E0F5-312E-5094-C6FC-18ED0527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9761A9E-1A17-EC08-DAFB-7E9BB54B3DC1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Discrete Fourier Transform (DFT)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43DBE9-2615-CD7A-E9B0-3FE080BF88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1668" y="2452707"/>
                <a:ext cx="7640664" cy="25717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A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Fourier transform</a:t>
                </a:r>
                <a:r>
                  <a:rPr lang="en-GB" sz="1600" dirty="0">
                    <a:solidFill>
                      <a:schemeClr val="tx1"/>
                    </a:solidFill>
                  </a:rPr>
                  <a:t> is an integral that converts a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signal</a:t>
                </a:r>
                <a:r>
                  <a:rPr lang="en-GB" sz="1600" dirty="0">
                    <a:solidFill>
                      <a:schemeClr val="tx1"/>
                    </a:solidFill>
                  </a:rPr>
                  <a:t> function of time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into a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spectral</a:t>
                </a:r>
                <a:r>
                  <a:rPr lang="en-US" sz="1600" dirty="0">
                    <a:solidFill>
                      <a:schemeClr val="tx1"/>
                    </a:solidFill>
                  </a:rPr>
                  <a:t> function of frequency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sz="1600" b="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The magnitude of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quantifies the extent to which each frequency is present in the original signal.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This </a:t>
                </a:r>
                <a:r>
                  <a:rPr lang="en-US" sz="1600" u="sng" dirty="0">
                    <a:solidFill>
                      <a:schemeClr val="tx1"/>
                    </a:solidFill>
                  </a:rPr>
                  <a:t>extremely useful and ubiquitous technique</a:t>
                </a:r>
                <a:r>
                  <a:rPr lang="en-US" sz="1600" dirty="0">
                    <a:solidFill>
                      <a:schemeClr val="tx1"/>
                    </a:solidFill>
                  </a:rPr>
                  <a:t> used in many fields can reveal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periodic </a:t>
                </a:r>
                <a:r>
                  <a:rPr lang="en-US" sz="1600" dirty="0" err="1">
                    <a:solidFill>
                      <a:schemeClr val="accent5"/>
                    </a:solidFill>
                  </a:rPr>
                  <a:t>behaviour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in a signal.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43DBE9-2615-CD7A-E9B0-3FE080BF8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68" y="2452707"/>
                <a:ext cx="7640664" cy="2571750"/>
              </a:xfrm>
              <a:prstGeom prst="rect">
                <a:avLst/>
              </a:prstGeom>
              <a:blipFill>
                <a:blip r:embed="rId3"/>
                <a:stretch>
                  <a:fillRect t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2191085-8EA4-C36C-FFF5-629046212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35" y="778534"/>
            <a:ext cx="7772400" cy="1376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051F3E-D3DF-5753-2A54-76E14ED734F3}"/>
              </a:ext>
            </a:extLst>
          </p:cNvPr>
          <p:cNvSpPr txBox="1"/>
          <p:nvPr/>
        </p:nvSpPr>
        <p:spPr>
          <a:xfrm>
            <a:off x="499035" y="1116250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29E47-8B40-EECC-923E-D4680F491FCB}"/>
              </a:ext>
            </a:extLst>
          </p:cNvPr>
          <p:cNvSpPr txBox="1"/>
          <p:nvPr/>
        </p:nvSpPr>
        <p:spPr>
          <a:xfrm>
            <a:off x="7776127" y="1159141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Spectrum</a:t>
            </a:r>
          </a:p>
        </p:txBody>
      </p:sp>
    </p:spTree>
    <p:extLst>
      <p:ext uri="{BB962C8B-B14F-4D97-AF65-F5344CB8AC3E}">
        <p14:creationId xmlns:p14="http://schemas.microsoft.com/office/powerpoint/2010/main" val="165209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CA528-0EEF-D0AE-B53E-E878974B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C9E4B84-6BF7-7073-8E81-D4E05B330E15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Discrete Fourier Transform (DFT)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C117-E681-D7B6-DE57-AC2FDA5B82A4}"/>
              </a:ext>
            </a:extLst>
          </p:cNvPr>
          <p:cNvSpPr txBox="1">
            <a:spLocks/>
          </p:cNvSpPr>
          <p:nvPr/>
        </p:nvSpPr>
        <p:spPr>
          <a:xfrm>
            <a:off x="751668" y="2452707"/>
            <a:ext cx="7640664" cy="257175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In practice we almost always work with signals that are </a:t>
            </a:r>
            <a:r>
              <a:rPr lang="en-US" sz="1600" dirty="0" err="1">
                <a:solidFill>
                  <a:schemeClr val="tx1"/>
                </a:solidFill>
              </a:rPr>
              <a:t>discretised</a:t>
            </a:r>
            <a:r>
              <a:rPr lang="en-US" sz="1600" dirty="0">
                <a:solidFill>
                  <a:schemeClr val="tx1"/>
                </a:solidFill>
              </a:rPr>
              <a:t> in time. For </a:t>
            </a:r>
            <a:r>
              <a:rPr lang="en-US" sz="1600" dirty="0" err="1">
                <a:solidFill>
                  <a:schemeClr val="tx1"/>
                </a:solidFill>
              </a:rPr>
              <a:t>discretised</a:t>
            </a:r>
            <a:r>
              <a:rPr lang="en-US" sz="1600" dirty="0">
                <a:solidFill>
                  <a:schemeClr val="tx1"/>
                </a:solidFill>
              </a:rPr>
              <a:t> time series we use the </a:t>
            </a:r>
            <a:r>
              <a:rPr lang="en-US" sz="1600" dirty="0">
                <a:solidFill>
                  <a:schemeClr val="accent5"/>
                </a:solidFill>
              </a:rPr>
              <a:t>Discrete Fourier Transform </a:t>
            </a:r>
            <a:r>
              <a:rPr lang="en-US" sz="1600" dirty="0">
                <a:solidFill>
                  <a:schemeClr val="tx1"/>
                </a:solidFill>
              </a:rPr>
              <a:t>(DFT). This algorithm computes the coefficients of each of the Fourier modes corresponding to the original signal.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To compute the DFT we use a class of fast algorithms called a </a:t>
            </a:r>
            <a:r>
              <a:rPr lang="en-US" sz="1600" dirty="0">
                <a:solidFill>
                  <a:schemeClr val="accent5"/>
                </a:solidFill>
              </a:rPr>
              <a:t>Fast Fourier Transform </a:t>
            </a:r>
            <a:r>
              <a:rPr lang="en-US" sz="1600" dirty="0">
                <a:solidFill>
                  <a:schemeClr val="tx1"/>
                </a:solidFill>
              </a:rPr>
              <a:t>(FFT). The terms DFT and FFT are often used interchangeably, but you are more likely to see </a:t>
            </a:r>
            <a:r>
              <a:rPr lang="en-US" sz="1600" dirty="0">
                <a:solidFill>
                  <a:schemeClr val="accent5"/>
                </a:solidFill>
              </a:rPr>
              <a:t>FFT</a:t>
            </a:r>
            <a:r>
              <a:rPr lang="en-US" sz="1600" dirty="0">
                <a:solidFill>
                  <a:schemeClr val="tx1"/>
                </a:solidFill>
              </a:rPr>
              <a:t> in practical applications.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1AEDF-EA6A-F349-C73D-A4B20AEA0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35" y="778534"/>
            <a:ext cx="7772400" cy="1376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D83074-6A58-67A6-20B9-9B00ED95250D}"/>
              </a:ext>
            </a:extLst>
          </p:cNvPr>
          <p:cNvSpPr txBox="1"/>
          <p:nvPr/>
        </p:nvSpPr>
        <p:spPr>
          <a:xfrm>
            <a:off x="499035" y="1116250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BAA4C-6D5C-69AD-7F11-305DB1AF06E4}"/>
              </a:ext>
            </a:extLst>
          </p:cNvPr>
          <p:cNvSpPr txBox="1"/>
          <p:nvPr/>
        </p:nvSpPr>
        <p:spPr>
          <a:xfrm>
            <a:off x="7776127" y="1159141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Spectrum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26FE80-61EE-2F85-F959-F175372178AB}"/>
              </a:ext>
            </a:extLst>
          </p:cNvPr>
          <p:cNvSpPr txBox="1"/>
          <p:nvPr/>
        </p:nvSpPr>
        <p:spPr>
          <a:xfrm>
            <a:off x="1716865" y="4685903"/>
            <a:ext cx="2124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Mathematica: Fourier</a:t>
            </a:r>
          </a:p>
        </p:txBody>
      </p:sp>
    </p:spTree>
    <p:extLst>
      <p:ext uri="{BB962C8B-B14F-4D97-AF65-F5344CB8AC3E}">
        <p14:creationId xmlns:p14="http://schemas.microsoft.com/office/powerpoint/2010/main" val="235901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B5AE2-164A-E36E-76A3-8C5458AF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F0288E3-8417-D4D8-7C1C-152BCB167EB3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Discrete Fourier Transform (DFT)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F1F1A9-B62D-1F76-D159-B31F637ACD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1186" y="2242380"/>
                <a:ext cx="7981627" cy="285192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DFT for a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∈[0, 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containing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points equally separated by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sz="1600" b="0" dirty="0">
                    <a:solidFill>
                      <a:schemeClr val="tx1"/>
                    </a:solidFill>
                  </a:rPr>
                  <a:t>, with total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  <m:r>
                      <a:rPr lang="en-GB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GB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sz="1600" b="0" dirty="0">
                    <a:solidFill>
                      <a:schemeClr val="tx1"/>
                    </a:solidFill>
                  </a:rPr>
                  <a:t>:</a:t>
                </a:r>
              </a:p>
              <a:p>
                <a:pPr>
                  <a:buClrTx/>
                </a:pPr>
                <a:endParaRPr lang="en-GB" sz="1600" b="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𝑖𝑘</m:t>
                                  </m:r>
                                  <m:f>
                                    <m:fPr>
                                      <m:ctrlPr>
                                        <a:rPr lang="en-GB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GB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endParaRPr lang="en-US" sz="800" dirty="0">
                  <a:solidFill>
                    <a:schemeClr val="tx1"/>
                  </a:solidFill>
                </a:endParaRPr>
              </a:p>
              <a:p>
                <a:pPr algn="ctr">
                  <a:buClrTx/>
                </a:pP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even)          or          </a:t>
                </a:r>
                <a:r>
                  <a:rPr lang="en-GB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odd)</a:t>
                </a:r>
              </a:p>
              <a:p>
                <a:pPr algn="ctr"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>
                  <a:buClrTx/>
                </a:pPr>
                <a14:m>
                  <m:oMath xmlns:m="http://schemas.openxmlformats.org/officeDocument/2006/math">
                    <m:r>
                      <a:rPr lang="en-GB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index</a:t>
                </a:r>
                <a:r>
                  <a:rPr lang="en-US" sz="1600" dirty="0">
                    <a:solidFill>
                      <a:schemeClr val="tx1"/>
                    </a:solidFill>
                  </a:rPr>
                  <a:t> and is linked to a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frequency</a:t>
                </a:r>
                <a:r>
                  <a:rPr lang="en-US" sz="1600" dirty="0">
                    <a:solidFill>
                      <a:schemeClr val="tx1"/>
                    </a:solidFill>
                  </a:rPr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GB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For time series, the units of frequency is (time)</a:t>
                </a:r>
                <a:r>
                  <a:rPr lang="en-US" sz="1600" baseline="30000" dirty="0">
                    <a:solidFill>
                      <a:schemeClr val="tx1"/>
                    </a:solidFill>
                  </a:rPr>
                  <a:t>-1</a:t>
                </a:r>
                <a:r>
                  <a:rPr lang="en-US" sz="1600" dirty="0">
                    <a:solidFill>
                      <a:schemeClr val="tx1"/>
                    </a:solidFill>
                  </a:rPr>
                  <a:t>, normally s</a:t>
                </a:r>
                <a:r>
                  <a:rPr lang="en-US" sz="1600" baseline="30000" dirty="0">
                    <a:solidFill>
                      <a:schemeClr val="tx1"/>
                    </a:solidFill>
                  </a:rPr>
                  <a:t>-1</a:t>
                </a:r>
                <a:r>
                  <a:rPr lang="en-US" sz="1600" dirty="0">
                    <a:solidFill>
                      <a:schemeClr val="tx1"/>
                    </a:solidFill>
                  </a:rPr>
                  <a:t> or Hz</a:t>
                </a:r>
                <a:endParaRPr lang="en-US" sz="16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F1F1A9-B62D-1F76-D159-B31F637AC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86" y="2242380"/>
                <a:ext cx="7981627" cy="2851926"/>
              </a:xfrm>
              <a:prstGeom prst="rect">
                <a:avLst/>
              </a:prstGeom>
              <a:blipFill>
                <a:blip r:embed="rId3"/>
                <a:stretch>
                  <a:fillRect t="-1327" b="-2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748BFD9-3FD9-8453-730C-3C4411211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35" y="778534"/>
            <a:ext cx="7772400" cy="1376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04F104-71E1-CF0F-0419-062C3A02C83E}"/>
              </a:ext>
            </a:extLst>
          </p:cNvPr>
          <p:cNvSpPr txBox="1"/>
          <p:nvPr/>
        </p:nvSpPr>
        <p:spPr>
          <a:xfrm>
            <a:off x="499035" y="1116250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307B27-24D2-AFB6-4435-8C427E17CD69}"/>
              </a:ext>
            </a:extLst>
          </p:cNvPr>
          <p:cNvSpPr txBox="1"/>
          <p:nvPr/>
        </p:nvSpPr>
        <p:spPr>
          <a:xfrm>
            <a:off x="7776127" y="1159141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Spectrum</a:t>
            </a:r>
          </a:p>
        </p:txBody>
      </p:sp>
    </p:spTree>
    <p:extLst>
      <p:ext uri="{BB962C8B-B14F-4D97-AF65-F5344CB8AC3E}">
        <p14:creationId xmlns:p14="http://schemas.microsoft.com/office/powerpoint/2010/main" val="300402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A5FC3-EAD9-7E2A-5D71-EE73EF4C2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31F28E4-FB09-A81F-E78D-9FDDF8A5A036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Discrete Fourier Transform (DFT)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F57316-1050-3BBB-9765-E29F8E977D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973" y="2390708"/>
                <a:ext cx="9108062" cy="25717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Fourier mode </a:t>
                </a:r>
                <a:r>
                  <a:rPr lang="en-US" sz="1600" dirty="0">
                    <a:solidFill>
                      <a:schemeClr val="tx1"/>
                    </a:solidFill>
                  </a:rPr>
                  <a:t>and is a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complex number</a:t>
                </a:r>
                <a:r>
                  <a:rPr lang="en-US" sz="1600" dirty="0">
                    <a:solidFill>
                      <a:schemeClr val="tx1"/>
                    </a:solidFill>
                  </a:rPr>
                  <a:t> associated with index </a:t>
                </a:r>
                <a14:m>
                  <m:oMath xmlns:m="http://schemas.openxmlformats.org/officeDocument/2006/math">
                    <m:r>
                      <a:rPr lang="en-GB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and frequency</a:t>
                </a:r>
                <a14:m>
                  <m:oMath xmlns:m="http://schemas.openxmlformats.org/officeDocument/2006/math">
                    <m:r>
                      <a:rPr lang="en-GB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pPr algn="ctr">
                  <a:buClrTx/>
                </a:pPr>
                <a:endParaRPr lang="en-US" sz="1600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 algn="ctr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GB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GB" sz="1600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GB" sz="1600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It is a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wave</a:t>
                </a:r>
                <a:r>
                  <a:rPr lang="en-US" sz="1600" dirty="0">
                    <a:solidFill>
                      <a:schemeClr val="tx1"/>
                    </a:solidFill>
                  </a:rPr>
                  <a:t> with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amplitude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GB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GB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rad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and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phase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F57316-1050-3BBB-9765-E29F8E977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73" y="2390708"/>
                <a:ext cx="9108062" cy="2571750"/>
              </a:xfrm>
              <a:prstGeom prst="rect">
                <a:avLst/>
              </a:prstGeom>
              <a:blipFill>
                <a:blip r:embed="rId3"/>
                <a:stretch>
                  <a:fillRect t="-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5DF627B-089A-17EE-B097-6025769B8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35" y="778534"/>
            <a:ext cx="7772400" cy="1376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3E25C5-0A51-626A-D4BE-70A4EF09E97D}"/>
              </a:ext>
            </a:extLst>
          </p:cNvPr>
          <p:cNvSpPr txBox="1"/>
          <p:nvPr/>
        </p:nvSpPr>
        <p:spPr>
          <a:xfrm>
            <a:off x="499035" y="1116250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28FD1-7718-37CD-9F76-1A358DA2F567}"/>
              </a:ext>
            </a:extLst>
          </p:cNvPr>
          <p:cNvSpPr txBox="1"/>
          <p:nvPr/>
        </p:nvSpPr>
        <p:spPr>
          <a:xfrm>
            <a:off x="7776127" y="1159141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Spectrum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CB27D5-7444-A735-AC36-04FCEA68A8A0}"/>
                  </a:ext>
                </a:extLst>
              </p:cNvPr>
              <p:cNvSpPr txBox="1"/>
              <p:nvPr/>
            </p:nvSpPr>
            <p:spPr>
              <a:xfrm>
                <a:off x="7198962" y="3984359"/>
                <a:ext cx="16970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both real numbers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CB27D5-7444-A735-AC36-04FCEA68A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962" y="3984359"/>
                <a:ext cx="1697065" cy="523220"/>
              </a:xfrm>
              <a:prstGeom prst="rect">
                <a:avLst/>
              </a:prstGeom>
              <a:blipFill>
                <a:blip r:embed="rId5"/>
                <a:stretch>
                  <a:fillRect l="-741" t="-2381" r="-3704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8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F11FA-70F1-8772-E736-947EA25E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145DD6B-F61C-DEF3-D4B3-CB541AB6C597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Discrete Fourier Transform (DFT)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1B6F3B-8B58-D4F6-39E7-ADD0AF8542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730" y="919716"/>
                <a:ext cx="7963135" cy="422378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GB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the time between samples and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we get: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5"/>
                    </a:solidFill>
                  </a:rPr>
                  <a:t>Sampling rate:</a:t>
                </a:r>
                <a:r>
                  <a:rPr lang="en-US" sz="1600" dirty="0">
                    <a:solidFill>
                      <a:schemeClr val="tx1"/>
                    </a:solidFill>
                  </a:rPr>
                  <a:t> The frequency of individual points in the signal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2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5"/>
                    </a:solidFill>
                  </a:rPr>
                  <a:t>Nyquist frequency </a:t>
                </a:r>
                <a:r>
                  <a:rPr lang="en-US" sz="1600" dirty="0">
                    <a:solidFill>
                      <a:schemeClr val="tx1"/>
                    </a:solidFill>
                  </a:rPr>
                  <a:t>or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 Nyquist critical frequency: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The maximum frequency that can be determined by sampling,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GB" sz="2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accent5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accent5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5"/>
                    </a:solidFill>
                  </a:rPr>
                  <a:t>Spectral resolution: </a:t>
                </a:r>
                <a:r>
                  <a:rPr lang="en-US" sz="1600" dirty="0">
                    <a:solidFill>
                      <a:schemeClr val="tx1"/>
                    </a:solidFill>
                  </a:rPr>
                  <a:t>The minimum frequency difference that can be distinguished from the signal. This depends on the total length of the time series:</a:t>
                </a:r>
              </a:p>
              <a:p>
                <a:pPr>
                  <a:buClrTx/>
                </a:pPr>
                <a:endParaRPr lang="en-US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>
                  <a:solidFill>
                    <a:schemeClr val="accent5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1B6F3B-8B58-D4F6-39E7-ADD0AF85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30" y="919716"/>
                <a:ext cx="7963135" cy="42237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CCCF503-2B75-D20C-B4DD-E86FBA0FA0A4}"/>
              </a:ext>
            </a:extLst>
          </p:cNvPr>
          <p:cNvSpPr txBox="1"/>
          <p:nvPr/>
        </p:nvSpPr>
        <p:spPr>
          <a:xfrm>
            <a:off x="1845780" y="4716680"/>
            <a:ext cx="2710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Example: 07_spectrum_DFT.nb</a:t>
            </a:r>
          </a:p>
        </p:txBody>
      </p:sp>
    </p:spTree>
    <p:extLst>
      <p:ext uri="{BB962C8B-B14F-4D97-AF65-F5344CB8AC3E}">
        <p14:creationId xmlns:p14="http://schemas.microsoft.com/office/powerpoint/2010/main" val="50362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1C8C-6044-8DDB-ACD6-BB4B0187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04E299-D765-D0A8-DFA4-D060F49FA55E}"/>
                  </a:ext>
                </a:extLst>
              </p:cNvPr>
              <p:cNvSpPr txBox="1"/>
              <p:nvPr/>
            </p:nvSpPr>
            <p:spPr>
              <a:xfrm>
                <a:off x="1845780" y="119043"/>
                <a:ext cx="69778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>
                    <a:solidFill>
                      <a:schemeClr val="tx1"/>
                    </a:solidFill>
                  </a:rPr>
                  <a:t>Discrete Fourier Transform (DFT)</a:t>
                </a:r>
              </a:p>
              <a:p>
                <a:pPr algn="ctr"/>
                <a:r>
                  <a:rPr lang="en-GB" sz="1800" dirty="0">
                    <a:solidFill>
                      <a:schemeClr val="tx1"/>
                    </a:solidFill>
                  </a:rPr>
                  <a:t>Varying the time between samples: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=0.2, 0.02 </m:t>
                    </m:r>
                    <m:r>
                      <m:rPr>
                        <m:sty m:val="p"/>
                      </m:rPr>
                      <a:rPr lang="en-GB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GB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04E299-D765-D0A8-DFA4-D060F49FA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780" y="119043"/>
                <a:ext cx="6977856" cy="830997"/>
              </a:xfrm>
              <a:prstGeom prst="rect">
                <a:avLst/>
              </a:prstGeom>
              <a:blipFill>
                <a:blip r:embed="rId3"/>
                <a:stretch>
                  <a:fillRect t="-7576"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BBC96-9B07-C976-0694-61EFD8FEBCD7}"/>
              </a:ext>
            </a:extLst>
          </p:cNvPr>
          <p:cNvSpPr txBox="1">
            <a:spLocks/>
          </p:cNvSpPr>
          <p:nvPr/>
        </p:nvSpPr>
        <p:spPr>
          <a:xfrm>
            <a:off x="3024416" y="4500581"/>
            <a:ext cx="4261288" cy="830996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Shortening the interval between samples enables the </a:t>
            </a:r>
            <a:r>
              <a:rPr lang="en-US" sz="1600" dirty="0">
                <a:solidFill>
                  <a:schemeClr val="accent5"/>
                </a:solidFill>
              </a:rPr>
              <a:t>detection of higher frequencies</a:t>
            </a:r>
            <a:endParaRPr lang="en-US" sz="2000" dirty="0">
              <a:solidFill>
                <a:schemeClr val="accent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33493B-033A-4F43-6BA8-6F2D8FA1A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36" y="846978"/>
            <a:ext cx="3103885" cy="18975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76ABAC-6831-8FB9-3A19-46C471F65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636" y="2740545"/>
            <a:ext cx="3103885" cy="18501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298CEA7-81B3-726A-9463-E87730C21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286264"/>
                  </p:ext>
                </p:extLst>
              </p:nvPr>
            </p:nvGraphicFramePr>
            <p:xfrm>
              <a:off x="3594899" y="1028925"/>
              <a:ext cx="5431116" cy="30856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606">
                      <a:extLst>
                        <a:ext uri="{9D8B030D-6E8A-4147-A177-3AD203B41FA5}">
                          <a16:colId xmlns:a16="http://schemas.microsoft.com/office/drawing/2014/main" val="714160883"/>
                        </a:ext>
                      </a:extLst>
                    </a:gridCol>
                    <a:gridCol w="1091381">
                      <a:extLst>
                        <a:ext uri="{9D8B030D-6E8A-4147-A177-3AD203B41FA5}">
                          <a16:colId xmlns:a16="http://schemas.microsoft.com/office/drawing/2014/main" val="763667131"/>
                        </a:ext>
                      </a:extLst>
                    </a:gridCol>
                    <a:gridCol w="988142">
                      <a:extLst>
                        <a:ext uri="{9D8B030D-6E8A-4147-A177-3AD203B41FA5}">
                          <a16:colId xmlns:a16="http://schemas.microsoft.com/office/drawing/2014/main" val="1559373463"/>
                        </a:ext>
                      </a:extLst>
                    </a:gridCol>
                    <a:gridCol w="1327354">
                      <a:extLst>
                        <a:ext uri="{9D8B030D-6E8A-4147-A177-3AD203B41FA5}">
                          <a16:colId xmlns:a16="http://schemas.microsoft.com/office/drawing/2014/main" val="166757516"/>
                        </a:ext>
                      </a:extLst>
                    </a:gridCol>
                    <a:gridCol w="1076633">
                      <a:extLst>
                        <a:ext uri="{9D8B030D-6E8A-4147-A177-3AD203B41FA5}">
                          <a16:colId xmlns:a16="http://schemas.microsoft.com/office/drawing/2014/main" val="3415347120"/>
                        </a:ext>
                      </a:extLst>
                    </a:gridCol>
                  </a:tblGrid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Number of points </a:t>
                          </a:r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Time separation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4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oMath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Sampling rate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GB" sz="14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oMath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Spectral frequency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/(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GB" sz="1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Nyquist frequency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GB" sz="1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4975075"/>
                      </a:ext>
                    </a:extLst>
                  </a:tr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0.2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0.125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5"/>
                              </a:solidFill>
                            </a:rPr>
                            <a:t>2.5 Hz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3402829"/>
                      </a:ext>
                    </a:extLst>
                  </a:tr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0.02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0.125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5"/>
                              </a:solidFill>
                            </a:rPr>
                            <a:t>25 Hz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94802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298CEA7-81B3-726A-9463-E87730C21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286264"/>
                  </p:ext>
                </p:extLst>
              </p:nvPr>
            </p:nvGraphicFramePr>
            <p:xfrm>
              <a:off x="3594899" y="1028925"/>
              <a:ext cx="5431116" cy="30856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606">
                      <a:extLst>
                        <a:ext uri="{9D8B030D-6E8A-4147-A177-3AD203B41FA5}">
                          <a16:colId xmlns:a16="http://schemas.microsoft.com/office/drawing/2014/main" val="714160883"/>
                        </a:ext>
                      </a:extLst>
                    </a:gridCol>
                    <a:gridCol w="1091381">
                      <a:extLst>
                        <a:ext uri="{9D8B030D-6E8A-4147-A177-3AD203B41FA5}">
                          <a16:colId xmlns:a16="http://schemas.microsoft.com/office/drawing/2014/main" val="763667131"/>
                        </a:ext>
                      </a:extLst>
                    </a:gridCol>
                    <a:gridCol w="988142">
                      <a:extLst>
                        <a:ext uri="{9D8B030D-6E8A-4147-A177-3AD203B41FA5}">
                          <a16:colId xmlns:a16="http://schemas.microsoft.com/office/drawing/2014/main" val="1559373463"/>
                        </a:ext>
                      </a:extLst>
                    </a:gridCol>
                    <a:gridCol w="1327354">
                      <a:extLst>
                        <a:ext uri="{9D8B030D-6E8A-4147-A177-3AD203B41FA5}">
                          <a16:colId xmlns:a16="http://schemas.microsoft.com/office/drawing/2014/main" val="166757516"/>
                        </a:ext>
                      </a:extLst>
                    </a:gridCol>
                    <a:gridCol w="1076633">
                      <a:extLst>
                        <a:ext uri="{9D8B030D-6E8A-4147-A177-3AD203B41FA5}">
                          <a16:colId xmlns:a16="http://schemas.microsoft.com/office/drawing/2014/main" val="3415347120"/>
                        </a:ext>
                      </a:extLst>
                    </a:gridCol>
                  </a:tblGrid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Number of points </a:t>
                          </a:r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88372" t="-1235" r="-312791" b="-2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7692" t="-1235" r="-244872" b="-2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0769" t="-1235" r="-83654" b="-2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04706" t="-1235" r="-2353" b="-2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4975075"/>
                      </a:ext>
                    </a:extLst>
                  </a:tr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0.2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0.125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5"/>
                              </a:solidFill>
                            </a:rPr>
                            <a:t>2.5 Hz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3402829"/>
                      </a:ext>
                    </a:extLst>
                  </a:tr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0.02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0.125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5"/>
                              </a:solidFill>
                            </a:rPr>
                            <a:t>25 Hz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94802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7971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DD562-CCD0-BE88-1B85-3B91AFFA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408E2F-D558-009B-85C3-703244EFCD20}"/>
                  </a:ext>
                </a:extLst>
              </p:cNvPr>
              <p:cNvSpPr txBox="1"/>
              <p:nvPr/>
            </p:nvSpPr>
            <p:spPr>
              <a:xfrm>
                <a:off x="1845780" y="119043"/>
                <a:ext cx="69778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>
                    <a:solidFill>
                      <a:schemeClr val="tx1"/>
                    </a:solidFill>
                  </a:rPr>
                  <a:t>Discrete Fourier Transform (DFT)</a:t>
                </a:r>
              </a:p>
              <a:p>
                <a:pPr algn="ctr"/>
                <a:r>
                  <a:rPr lang="en-GB" sz="1800" dirty="0">
                    <a:solidFill>
                      <a:schemeClr val="tx1"/>
                    </a:solidFill>
                  </a:rPr>
                  <a:t>Varying the total time: </a:t>
                </a:r>
                <a14:m>
                  <m:oMath xmlns:m="http://schemas.openxmlformats.org/officeDocument/2006/math">
                    <m:r>
                      <a:rPr lang="en-GB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=400, 800</m:t>
                    </m:r>
                  </m:oMath>
                </a14:m>
                <a:endParaRPr lang="en-GB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408E2F-D558-009B-85C3-703244EFC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780" y="119043"/>
                <a:ext cx="6977856" cy="830997"/>
              </a:xfrm>
              <a:prstGeom prst="rect">
                <a:avLst/>
              </a:prstGeom>
              <a:blipFill>
                <a:blip r:embed="rId3"/>
                <a:stretch>
                  <a:fillRect t="-7576"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72E58BC-31F6-E252-3867-4C67D47BD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64" y="832056"/>
            <a:ext cx="3103885" cy="18501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78F0235-8F21-5387-D8DF-B02E2376C7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043158"/>
                  </p:ext>
                </p:extLst>
              </p:nvPr>
            </p:nvGraphicFramePr>
            <p:xfrm>
              <a:off x="3594899" y="1028925"/>
              <a:ext cx="5431116" cy="30856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606">
                      <a:extLst>
                        <a:ext uri="{9D8B030D-6E8A-4147-A177-3AD203B41FA5}">
                          <a16:colId xmlns:a16="http://schemas.microsoft.com/office/drawing/2014/main" val="714160883"/>
                        </a:ext>
                      </a:extLst>
                    </a:gridCol>
                    <a:gridCol w="1091381">
                      <a:extLst>
                        <a:ext uri="{9D8B030D-6E8A-4147-A177-3AD203B41FA5}">
                          <a16:colId xmlns:a16="http://schemas.microsoft.com/office/drawing/2014/main" val="763667131"/>
                        </a:ext>
                      </a:extLst>
                    </a:gridCol>
                    <a:gridCol w="988142">
                      <a:extLst>
                        <a:ext uri="{9D8B030D-6E8A-4147-A177-3AD203B41FA5}">
                          <a16:colId xmlns:a16="http://schemas.microsoft.com/office/drawing/2014/main" val="1559373463"/>
                        </a:ext>
                      </a:extLst>
                    </a:gridCol>
                    <a:gridCol w="1327354">
                      <a:extLst>
                        <a:ext uri="{9D8B030D-6E8A-4147-A177-3AD203B41FA5}">
                          <a16:colId xmlns:a16="http://schemas.microsoft.com/office/drawing/2014/main" val="166757516"/>
                        </a:ext>
                      </a:extLst>
                    </a:gridCol>
                    <a:gridCol w="1076633">
                      <a:extLst>
                        <a:ext uri="{9D8B030D-6E8A-4147-A177-3AD203B41FA5}">
                          <a16:colId xmlns:a16="http://schemas.microsoft.com/office/drawing/2014/main" val="3415347120"/>
                        </a:ext>
                      </a:extLst>
                    </a:gridCol>
                  </a:tblGrid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Number of points </a:t>
                          </a:r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Time separation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4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oMath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Sampling rate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GB" sz="14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oMath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Spectral frequency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/(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GB" sz="1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Nyquist frequency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GB" sz="1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r>
                                <a:rPr lang="en-GB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4975075"/>
                      </a:ext>
                    </a:extLst>
                  </a:tr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0.02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5"/>
                              </a:solidFill>
                            </a:rPr>
                            <a:t>0.125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25 Hz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3402829"/>
                      </a:ext>
                    </a:extLst>
                  </a:tr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0.02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5"/>
                              </a:solidFill>
                            </a:rPr>
                            <a:t>0.0625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25 Hz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94802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78F0235-8F21-5387-D8DF-B02E2376C7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043158"/>
                  </p:ext>
                </p:extLst>
              </p:nvPr>
            </p:nvGraphicFramePr>
            <p:xfrm>
              <a:off x="3594899" y="1028925"/>
              <a:ext cx="5431116" cy="30856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606">
                      <a:extLst>
                        <a:ext uri="{9D8B030D-6E8A-4147-A177-3AD203B41FA5}">
                          <a16:colId xmlns:a16="http://schemas.microsoft.com/office/drawing/2014/main" val="714160883"/>
                        </a:ext>
                      </a:extLst>
                    </a:gridCol>
                    <a:gridCol w="1091381">
                      <a:extLst>
                        <a:ext uri="{9D8B030D-6E8A-4147-A177-3AD203B41FA5}">
                          <a16:colId xmlns:a16="http://schemas.microsoft.com/office/drawing/2014/main" val="763667131"/>
                        </a:ext>
                      </a:extLst>
                    </a:gridCol>
                    <a:gridCol w="988142">
                      <a:extLst>
                        <a:ext uri="{9D8B030D-6E8A-4147-A177-3AD203B41FA5}">
                          <a16:colId xmlns:a16="http://schemas.microsoft.com/office/drawing/2014/main" val="1559373463"/>
                        </a:ext>
                      </a:extLst>
                    </a:gridCol>
                    <a:gridCol w="1327354">
                      <a:extLst>
                        <a:ext uri="{9D8B030D-6E8A-4147-A177-3AD203B41FA5}">
                          <a16:colId xmlns:a16="http://schemas.microsoft.com/office/drawing/2014/main" val="166757516"/>
                        </a:ext>
                      </a:extLst>
                    </a:gridCol>
                    <a:gridCol w="1076633">
                      <a:extLst>
                        <a:ext uri="{9D8B030D-6E8A-4147-A177-3AD203B41FA5}">
                          <a16:colId xmlns:a16="http://schemas.microsoft.com/office/drawing/2014/main" val="3415347120"/>
                        </a:ext>
                      </a:extLst>
                    </a:gridCol>
                  </a:tblGrid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Number of points </a:t>
                          </a:r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8372" t="-1235" r="-312791" b="-2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7692" t="-1235" r="-244872" b="-2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30769" t="-1235" r="-83654" b="-2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4706" t="-1235" r="-2353" b="-2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4975075"/>
                      </a:ext>
                    </a:extLst>
                  </a:tr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0.02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5"/>
                              </a:solidFill>
                            </a:rPr>
                            <a:t>0.125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25 Hz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3402829"/>
                      </a:ext>
                    </a:extLst>
                  </a:tr>
                  <a:tr h="102855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0.02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5"/>
                              </a:solidFill>
                            </a:rPr>
                            <a:t>0.0625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25 Hz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94802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1FEA22-1F18-B019-28D9-22BB9D5DFBA9}"/>
              </a:ext>
            </a:extLst>
          </p:cNvPr>
          <p:cNvSpPr txBox="1">
            <a:spLocks/>
          </p:cNvSpPr>
          <p:nvPr/>
        </p:nvSpPr>
        <p:spPr>
          <a:xfrm>
            <a:off x="3049206" y="4312504"/>
            <a:ext cx="4571003" cy="830996"/>
          </a:xfrm>
          <a:prstGeom prst="rect">
            <a:avLst/>
          </a:prstGeom>
        </p:spPr>
        <p:txBody>
          <a:bodyPr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Lengthening the time series </a:t>
            </a:r>
            <a:r>
              <a:rPr lang="en-US" sz="1600" dirty="0">
                <a:solidFill>
                  <a:schemeClr val="accent5"/>
                </a:solidFill>
              </a:rPr>
              <a:t>improves the resolution in the low-frequency range</a:t>
            </a:r>
            <a:r>
              <a:rPr lang="en-US" sz="1600" dirty="0">
                <a:solidFill>
                  <a:schemeClr val="tx1"/>
                </a:solidFill>
              </a:rPr>
              <a:t> and makes the </a:t>
            </a:r>
            <a:r>
              <a:rPr lang="en-US" sz="1600" dirty="0">
                <a:solidFill>
                  <a:schemeClr val="accent5"/>
                </a:solidFill>
              </a:rPr>
              <a:t>discrete frequency channels closer together</a:t>
            </a:r>
            <a:endParaRPr lang="en-US" sz="2000" dirty="0">
              <a:solidFill>
                <a:schemeClr val="accent5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B5BE3B-27EA-5818-BF02-8342DC171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363" y="2740339"/>
            <a:ext cx="3103885" cy="18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44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EF6B-20FA-D788-21BC-B5C7E35C2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4FF36B7-433F-76F7-66BC-89E3EC3836B6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Power spectrum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1B2503-DCAF-728F-145F-12F836F4BF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730" y="800673"/>
                <a:ext cx="8856270" cy="3999927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The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energy spectral density </a:t>
                </a:r>
                <a:r>
                  <a:rPr lang="en-GB" sz="1600" dirty="0">
                    <a:solidFill>
                      <a:schemeClr val="tx1"/>
                    </a:solidFill>
                  </a:rPr>
                  <a:t>(ESD) present at each frequency of a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𝑥𝑥</m:t>
                          </m:r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GB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GB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GB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This is more commonly used than the amplitude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GB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GB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GB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(Note: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Re</m:t>
                        </m:r>
                        <m: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̃"/>
                            <m:ctrlP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should not be used at all.)</a:t>
                </a:r>
              </a:p>
              <a:p>
                <a:pPr>
                  <a:buClrTx/>
                </a:pPr>
                <a:endParaRPr lang="en-US" sz="11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The ESD is only appropriate for finite-time or transient signals, as it goes to infinity for a continuous signal over all time.</a:t>
                </a:r>
              </a:p>
              <a:p>
                <a:pPr>
                  <a:buClrTx/>
                </a:pPr>
                <a:endParaRPr lang="en-US" sz="11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For signals defined over all time (or, in practice, for a sufficiently long finite time series), 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power spectral density</a:t>
                </a:r>
                <a:r>
                  <a:rPr lang="en-US" sz="1600" dirty="0">
                    <a:solidFill>
                      <a:schemeClr val="tx1"/>
                    </a:solidFill>
                  </a:rPr>
                  <a:t> (PSD) or simply 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power spectrum</a:t>
                </a:r>
                <a:r>
                  <a:rPr lang="en-US" sz="1600" dirty="0">
                    <a:solidFill>
                      <a:schemeClr val="tx1"/>
                    </a:solidFill>
                  </a:rPr>
                  <a:t> is more appropriate. </a:t>
                </a:r>
              </a:p>
              <a:p>
                <a:pPr>
                  <a:buClrTx/>
                </a:pPr>
                <a:endParaRPr lang="en-US" sz="11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This is the ESD divided by the length of the time series</a:t>
                </a:r>
                <a:r>
                  <a:rPr lang="en-GB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(formally in the limit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). </a:t>
                </a:r>
              </a:p>
              <a:p>
                <a:pPr>
                  <a:buClrTx/>
                </a:pPr>
                <a:endParaRPr lang="en-US" sz="11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𝑥𝑥</m:t>
                          </m:r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𝑥𝑥</m:t>
                                      </m:r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endParaRPr lang="en-US" sz="11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The dimensions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𝑥𝑥</m:t>
                        </m:r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𝑥𝑥</m:t>
                        </m:r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depend upon the dimensions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𝑥𝑥</m:t>
                        </m:r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]=</m:t>
                    </m:r>
                    <m:f>
                      <m:f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acc>
                              <m:accPr>
                                <m:chr m:val="̅"/>
                                <m:ctrlPr>
                                  <a:rPr lang="en-GB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GB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Time</m:t>
                        </m:r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1B2503-DCAF-728F-145F-12F836F4B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30" y="800673"/>
                <a:ext cx="8856270" cy="3999927"/>
              </a:xfrm>
              <a:prstGeom prst="rect">
                <a:avLst/>
              </a:prstGeom>
              <a:blipFill>
                <a:blip r:embed="rId3"/>
                <a:stretch>
                  <a:fillRect t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7E315CC-DC97-2771-C525-C1FC790DE17A}"/>
              </a:ext>
            </a:extLst>
          </p:cNvPr>
          <p:cNvSpPr txBox="1"/>
          <p:nvPr/>
        </p:nvSpPr>
        <p:spPr>
          <a:xfrm>
            <a:off x="1845780" y="4631323"/>
            <a:ext cx="26484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Mathematica: Periodogram</a:t>
            </a:r>
          </a:p>
        </p:txBody>
      </p:sp>
    </p:spTree>
    <p:extLst>
      <p:ext uri="{BB962C8B-B14F-4D97-AF65-F5344CB8AC3E}">
        <p14:creationId xmlns:p14="http://schemas.microsoft.com/office/powerpoint/2010/main" val="365548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D04E-F22D-6D4B-40FF-ED27B9CC3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3B5B736-1AA1-6511-A9F6-243BC1EC49F4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Power spectrum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DC668D-9AA0-54B1-8FA2-4D3B7AAC21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730" y="919716"/>
                <a:ext cx="8856270" cy="422378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accent5"/>
                    </a:solidFill>
                  </a:rPr>
                  <a:t>The Fourier transform conserves the energy of a signal.</a:t>
                </a:r>
              </a:p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sz="1600" dirty="0">
                    <a:solidFill>
                      <a:schemeClr val="accent5"/>
                    </a:solidFill>
                  </a:rPr>
                  <a:t>Parseval’s theorem:</a:t>
                </a:r>
                <a:r>
                  <a:rPr lang="en-GB" sz="1600" dirty="0">
                    <a:solidFill>
                      <a:schemeClr val="tx1"/>
                    </a:solidFill>
                  </a:rPr>
                  <a:t> The total energy of a signal is the same in the time domain and the frequency domain.</a:t>
                </a:r>
              </a:p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In continuous time: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GB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GB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GB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In discrete time: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GB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GB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DC668D-9AA0-54B1-8FA2-4D3B7AAC2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30" y="919716"/>
                <a:ext cx="8856270" cy="4223784"/>
              </a:xfrm>
              <a:prstGeom prst="rect">
                <a:avLst/>
              </a:prstGeom>
              <a:blipFill>
                <a:blip r:embed="rId3"/>
                <a:stretch>
                  <a:fillRect t="-299" b="-22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C645D04-7282-7D32-6CCA-7A2B8C8D1191}"/>
              </a:ext>
            </a:extLst>
          </p:cNvPr>
          <p:cNvSpPr txBox="1"/>
          <p:nvPr/>
        </p:nvSpPr>
        <p:spPr>
          <a:xfrm>
            <a:off x="7300452" y="3382502"/>
            <a:ext cx="2050025" cy="117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Be careful applying this, as different algorithms define the LHS and RHS differently</a:t>
            </a:r>
          </a:p>
        </p:txBody>
      </p:sp>
    </p:spTree>
    <p:extLst>
      <p:ext uri="{BB962C8B-B14F-4D97-AF65-F5344CB8AC3E}">
        <p14:creationId xmlns:p14="http://schemas.microsoft.com/office/powerpoint/2010/main" val="328432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3A9B-439B-6E83-C141-FF4F5654E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7F2C273-326D-FB5E-E13C-3517E0DAF808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Power spectrum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217FA-D030-0C4F-D8AD-E4BFE3FD3B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730" y="919716"/>
                <a:ext cx="8856270" cy="422378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Some properties: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GB" sz="1600" dirty="0">
                    <a:solidFill>
                      <a:schemeClr val="tx1"/>
                    </a:solidFill>
                  </a:rPr>
                  <a:t>The power spectrum for a real-valued signal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real </a:t>
                </a:r>
                <a:r>
                  <a:rPr lang="en-US" sz="1600" dirty="0">
                    <a:solidFill>
                      <a:schemeClr val="tx1"/>
                    </a:solidFill>
                  </a:rPr>
                  <a:t>and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 even</a:t>
                </a:r>
                <a:r>
                  <a:rPr lang="en-US" sz="16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d>
                      <m:d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So we plot only the positive frequencies.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</a:rPr>
                  <a:t>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zero-channel component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gives the “DC” component in the signal, 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i.e. the time average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1600" b="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b="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GB" sz="1600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5"/>
                    </a:solidFill>
                  </a:rPr>
                  <a:t>White noise</a:t>
                </a:r>
                <a:r>
                  <a:rPr lang="en-US" sz="1600" dirty="0">
                    <a:solidFill>
                      <a:schemeClr val="tx1"/>
                    </a:solidFill>
                  </a:rPr>
                  <a:t> has a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flat</a:t>
                </a:r>
                <a:r>
                  <a:rPr lang="en-US" sz="1600" dirty="0">
                    <a:solidFill>
                      <a:schemeClr val="tx1"/>
                    </a:solidFill>
                  </a:rPr>
                  <a:t> power spectrum.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217FA-D030-0C4F-D8AD-E4BFE3FD3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30" y="919716"/>
                <a:ext cx="8856270" cy="4223784"/>
              </a:xfrm>
              <a:prstGeom prst="rect">
                <a:avLst/>
              </a:prstGeom>
              <a:blipFill>
                <a:blip r:embed="rId3"/>
                <a:stretch>
                  <a:fillRect t="-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3700043-397B-18B2-2DEB-D4210D973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720" y="2623572"/>
            <a:ext cx="4322280" cy="252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44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A35A-D9DA-0805-A242-FBA38C0E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7F9D9F6-9146-457A-DB54-572E3716C784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Optimising the power spectrum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C88F1-7B77-056B-C590-BFA85BCF90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730" y="919716"/>
                <a:ext cx="8856270" cy="422378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GB" sz="1600" dirty="0">
                    <a:solidFill>
                      <a:schemeClr val="tx1"/>
                    </a:solidFill>
                  </a:rPr>
                  <a:t>If you want to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analyse higher frequencies</a:t>
                </a:r>
                <a:r>
                  <a:rPr lang="en-GB" sz="1600" dirty="0">
                    <a:solidFill>
                      <a:schemeClr val="tx1"/>
                    </a:solidFill>
                  </a:rPr>
                  <a:t>: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Use shorter sampling times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 to increase the Nyquist frequency:</a:t>
                </a:r>
                <a:r>
                  <a:rPr lang="en-GB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GB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endParaRPr lang="en-GB" sz="2000" dirty="0">
                  <a:solidFill>
                    <a:schemeClr val="tx1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GB" sz="1600" dirty="0">
                    <a:solidFill>
                      <a:schemeClr val="tx1"/>
                    </a:solidFill>
                  </a:rPr>
                  <a:t>If you want to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improve the spectral resolution at low frequencies</a:t>
                </a:r>
                <a:r>
                  <a:rPr lang="en-GB" sz="1600" dirty="0">
                    <a:solidFill>
                      <a:schemeClr val="tx1"/>
                    </a:solidFill>
                  </a:rPr>
                  <a:t>: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dirty="0">
                    <a:solidFill>
                      <a:schemeClr val="tx1"/>
                    </a:solidFill>
                  </a:rPr>
                  <a:t>Start with a longer time series or take measurements for longer: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GB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GB" sz="1600" dirty="0">
                    <a:solidFill>
                      <a:schemeClr val="tx1"/>
                    </a:solidFill>
                  </a:rPr>
                  <a:t>If you want to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reduce the noise</a:t>
                </a:r>
                <a:r>
                  <a:rPr lang="en-GB" sz="1600" dirty="0">
                    <a:solidFill>
                      <a:schemeClr val="tx1"/>
                    </a:solidFill>
                  </a:rPr>
                  <a:t>: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dirty="0">
                    <a:solidFill>
                      <a:schemeClr val="tx1"/>
                    </a:solidFill>
                  </a:rPr>
                  <a:t>Smooth the spectrum by 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dirty="0">
                    <a:solidFill>
                      <a:schemeClr val="tx1"/>
                    </a:solidFill>
                  </a:rPr>
                  <a:t>(1) partitioning the time series into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M</a:t>
                </a:r>
                <a:r>
                  <a:rPr lang="en-GB" sz="1600" dirty="0">
                    <a:solidFill>
                      <a:schemeClr val="tx1"/>
                    </a:solidFill>
                  </a:rPr>
                  <a:t> partitions, 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dirty="0">
                    <a:solidFill>
                      <a:schemeClr val="tx1"/>
                    </a:solidFill>
                  </a:rPr>
                  <a:t>(2) finding the spectrum for each one,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dirty="0">
                    <a:solidFill>
                      <a:schemeClr val="tx1"/>
                    </a:solidFill>
                  </a:rPr>
                  <a:t>(3) averaging over the PSD for each partition. 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dirty="0">
                    <a:solidFill>
                      <a:schemeClr val="tx1"/>
                    </a:solidFill>
                  </a:rPr>
                  <a:t>NB: This reduces the low frequency resolution by a factor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M,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partition</m:t>
                        </m:r>
                      </m:sub>
                    </m:sSub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C88F1-7B77-056B-C590-BFA85BCF9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30" y="919716"/>
                <a:ext cx="8856270" cy="42237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FB8F6A1-C928-9C21-34E3-73F6D4BB4DA2}"/>
              </a:ext>
            </a:extLst>
          </p:cNvPr>
          <p:cNvSpPr txBox="1"/>
          <p:nvPr/>
        </p:nvSpPr>
        <p:spPr>
          <a:xfrm>
            <a:off x="1716090" y="4558725"/>
            <a:ext cx="5711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Examples:	08a_temperature_Scot_hands_on.nb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                 	09a_spectrum_spiketimes_hands_on.nb</a:t>
            </a:r>
          </a:p>
        </p:txBody>
      </p:sp>
    </p:spTree>
    <p:extLst>
      <p:ext uri="{BB962C8B-B14F-4D97-AF65-F5344CB8AC3E}">
        <p14:creationId xmlns:p14="http://schemas.microsoft.com/office/powerpoint/2010/main" val="292026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53A29-03D8-5AAB-1CA2-44905110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29A0878-EA29-09B5-47E8-B420CAA96FF0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Short-time Fourier transform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8DEF6-7E26-DC30-8686-489FB4F4E62A}"/>
              </a:ext>
            </a:extLst>
          </p:cNvPr>
          <p:cNvSpPr txBox="1">
            <a:spLocks/>
          </p:cNvSpPr>
          <p:nvPr/>
        </p:nvSpPr>
        <p:spPr>
          <a:xfrm>
            <a:off x="287730" y="677129"/>
            <a:ext cx="8856270" cy="422378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The Fourier transform and the power spectrum give </a:t>
            </a:r>
            <a:r>
              <a:rPr lang="en-GB" sz="1600" dirty="0">
                <a:solidFill>
                  <a:schemeClr val="accent5"/>
                </a:solidFill>
              </a:rPr>
              <a:t>averaged</a:t>
            </a:r>
            <a:r>
              <a:rPr lang="en-GB" sz="1600" dirty="0">
                <a:solidFill>
                  <a:schemeClr val="tx1"/>
                </a:solidFill>
              </a:rPr>
              <a:t> information about each frequency over the whole time series. Frequency changes over time cannot be detected.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accent5"/>
                </a:solidFill>
              </a:rPr>
              <a:t>To analyse changes in the spectrum over time</a:t>
            </a:r>
            <a:r>
              <a:rPr lang="en-GB" sz="1600" dirty="0">
                <a:solidFill>
                  <a:schemeClr val="tx1"/>
                </a:solidFill>
              </a:rPr>
              <a:t>, we can partition the time series and perform spectral analyses for each (short) partition individually, without averaging the spectra.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This 2D spectrum is called a </a:t>
            </a:r>
            <a:r>
              <a:rPr lang="en-GB" sz="1600" dirty="0">
                <a:solidFill>
                  <a:schemeClr val="accent5"/>
                </a:solidFill>
              </a:rPr>
              <a:t>spectrogram</a:t>
            </a:r>
            <a:r>
              <a:rPr lang="en-GB" sz="1600" dirty="0">
                <a:solidFill>
                  <a:schemeClr val="tx1"/>
                </a:solidFill>
              </a:rPr>
              <a:t>. </a:t>
            </a:r>
          </a:p>
          <a:p>
            <a:pPr>
              <a:buClrTx/>
            </a:pPr>
            <a:r>
              <a:rPr lang="en-GB" sz="1600" dirty="0">
                <a:solidFill>
                  <a:schemeClr val="accent6"/>
                </a:solidFill>
              </a:rPr>
              <a:t>Mathematica: Spectrogram</a:t>
            </a:r>
          </a:p>
          <a:p>
            <a:pPr>
              <a:buClrTx/>
            </a:pPr>
            <a:endParaRPr lang="en-GB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Particularly used in the analysis of </a:t>
            </a:r>
            <a:r>
              <a:rPr lang="en-GB" sz="1600" dirty="0">
                <a:solidFill>
                  <a:schemeClr val="accent5"/>
                </a:solidFill>
              </a:rPr>
              <a:t>audio signals</a:t>
            </a:r>
            <a:r>
              <a:rPr lang="en-GB" sz="1600" dirty="0">
                <a:solidFill>
                  <a:schemeClr val="tx1"/>
                </a:solidFill>
              </a:rPr>
              <a:t>,</a:t>
            </a:r>
            <a:r>
              <a:rPr lang="en-GB" sz="1600" dirty="0">
                <a:solidFill>
                  <a:schemeClr val="accent5"/>
                </a:solidFill>
              </a:rPr>
              <a:t> </a:t>
            </a:r>
          </a:p>
          <a:p>
            <a:pPr>
              <a:buClrTx/>
            </a:pPr>
            <a:r>
              <a:rPr lang="en-GB" sz="1600" dirty="0">
                <a:solidFill>
                  <a:schemeClr val="accent5"/>
                </a:solidFill>
              </a:rPr>
              <a:t>ecology</a:t>
            </a:r>
            <a:r>
              <a:rPr lang="en-GB" sz="1600" dirty="0">
                <a:solidFill>
                  <a:schemeClr val="tx1"/>
                </a:solidFill>
              </a:rPr>
              <a:t>, and </a:t>
            </a:r>
            <a:r>
              <a:rPr lang="en-GB" sz="1600" dirty="0">
                <a:solidFill>
                  <a:schemeClr val="accent5"/>
                </a:solidFill>
              </a:rPr>
              <a:t>seismology.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E304B-3384-7E32-DCE5-ABCEC1D9545F}"/>
              </a:ext>
            </a:extLst>
          </p:cNvPr>
          <p:cNvSpPr txBox="1"/>
          <p:nvPr/>
        </p:nvSpPr>
        <p:spPr>
          <a:xfrm>
            <a:off x="1695998" y="4798908"/>
            <a:ext cx="2864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Example: 10_spectrogram.nb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33C32-4A19-114C-29F7-428F6AC8E20C}"/>
              </a:ext>
            </a:extLst>
          </p:cNvPr>
          <p:cNvSpPr txBox="1"/>
          <p:nvPr/>
        </p:nvSpPr>
        <p:spPr>
          <a:xfrm>
            <a:off x="1695998" y="3476938"/>
            <a:ext cx="39251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GB" sz="1600" dirty="0" err="1">
                <a:solidFill>
                  <a:schemeClr val="tx1"/>
                </a:solidFill>
              </a:rPr>
              <a:t>Tradeoff</a:t>
            </a:r>
            <a:r>
              <a:rPr lang="en-GB" sz="1600" dirty="0">
                <a:solidFill>
                  <a:schemeClr val="tx1"/>
                </a:solidFill>
              </a:rPr>
              <a:t>: </a:t>
            </a:r>
            <a:r>
              <a:rPr lang="en-GB" sz="1600" dirty="0">
                <a:solidFill>
                  <a:schemeClr val="accent5"/>
                </a:solidFill>
              </a:rPr>
              <a:t>Time and frequency resolution are inversely proportional. </a:t>
            </a:r>
            <a:r>
              <a:rPr lang="en-GB" sz="1600" dirty="0">
                <a:solidFill>
                  <a:schemeClr val="tx1"/>
                </a:solidFill>
              </a:rPr>
              <a:t>As you shorten the partition, you detect changes over shorter intervals, but the frequency resolution decreases</a:t>
            </a:r>
          </a:p>
        </p:txBody>
      </p:sp>
      <p:pic>
        <p:nvPicPr>
          <p:cNvPr id="1026" name="Picture 2" descr="Spectrogram of dolphin vocalizations; chirps, clicks and harmonizing are visible as inverted Vs, vertical lines and horizontal striations respectively.">
            <a:extLst>
              <a:ext uri="{FF2B5EF4-FFF2-40B4-BE49-F238E27FC236}">
                <a16:creationId xmlns:a16="http://schemas.microsoft.com/office/drawing/2014/main" id="{172509AA-4343-D705-2F59-49D2FC943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985" y="2321779"/>
            <a:ext cx="3272697" cy="246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18AB1C-56B9-B2FC-49B7-B5AEF27F3771}"/>
              </a:ext>
            </a:extLst>
          </p:cNvPr>
          <p:cNvSpPr txBox="1"/>
          <p:nvPr/>
        </p:nvSpPr>
        <p:spPr>
          <a:xfrm>
            <a:off x="5636798" y="2014002"/>
            <a:ext cx="3389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Spectrogram of a dolphin’s </a:t>
            </a:r>
            <a:r>
              <a:rPr lang="en-US" dirty="0" err="1">
                <a:solidFill>
                  <a:schemeClr val="accent2"/>
                </a:solidFill>
              </a:rPr>
              <a:t>vocalisations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EEAEF-8A5F-527C-4441-75C2A60EE907}"/>
              </a:ext>
            </a:extLst>
          </p:cNvPr>
          <p:cNvSpPr txBox="1"/>
          <p:nvPr/>
        </p:nvSpPr>
        <p:spPr>
          <a:xfrm>
            <a:off x="7331332" y="4940669"/>
            <a:ext cx="18229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</a:rPr>
              <a:t>[</a:t>
            </a:r>
            <a:r>
              <a:rPr lang="en-US" sz="1000" dirty="0" err="1">
                <a:solidFill>
                  <a:schemeClr val="tx1"/>
                </a:solidFill>
              </a:rPr>
              <a:t>Spyrogumas</a:t>
            </a:r>
            <a:r>
              <a:rPr lang="en-US" sz="1000" dirty="0">
                <a:solidFill>
                  <a:schemeClr val="tx1"/>
                </a:solidFill>
              </a:rPr>
              <a:t>/CC BY-SA 3.0]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AF82C-4FB9-4AAD-3C2C-3052C1DCC7BD}"/>
              </a:ext>
            </a:extLst>
          </p:cNvPr>
          <p:cNvSpPr txBox="1"/>
          <p:nvPr/>
        </p:nvSpPr>
        <p:spPr>
          <a:xfrm>
            <a:off x="8113970" y="4180394"/>
            <a:ext cx="527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Clicks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17260-E47B-88CD-8130-391072BF80B2}"/>
              </a:ext>
            </a:extLst>
          </p:cNvPr>
          <p:cNvSpPr txBox="1"/>
          <p:nvPr/>
        </p:nvSpPr>
        <p:spPr>
          <a:xfrm>
            <a:off x="7965319" y="2571750"/>
            <a:ext cx="5549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Chirps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937815-DAFC-61E5-E186-759DEF357E42}"/>
              </a:ext>
            </a:extLst>
          </p:cNvPr>
          <p:cNvSpPr txBox="1"/>
          <p:nvPr/>
        </p:nvSpPr>
        <p:spPr>
          <a:xfrm>
            <a:off x="6730660" y="4102358"/>
            <a:ext cx="9028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</a:rPr>
              <a:t>Harmonising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87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E6B2E-B05B-E5E9-9DDB-FAD6BCD4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32E9733-D203-58EA-E560-0C2FE61D815C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Filtering in the frequency domain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25373-CE7D-DF67-A8A0-3DE08A172C5F}"/>
              </a:ext>
            </a:extLst>
          </p:cNvPr>
          <p:cNvSpPr txBox="1">
            <a:spLocks/>
          </p:cNvSpPr>
          <p:nvPr/>
        </p:nvSpPr>
        <p:spPr>
          <a:xfrm>
            <a:off x="31661" y="761533"/>
            <a:ext cx="9080678" cy="362043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The action of a filter or smoother is often easier to understand in the frequency domain.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A “</a:t>
            </a:r>
            <a:r>
              <a:rPr lang="en-US" sz="1600" dirty="0">
                <a:solidFill>
                  <a:schemeClr val="accent5"/>
                </a:solidFill>
              </a:rPr>
              <a:t>filter</a:t>
            </a:r>
            <a:r>
              <a:rPr lang="en-US" sz="1600" dirty="0">
                <a:solidFill>
                  <a:schemeClr val="tx1"/>
                </a:solidFill>
              </a:rPr>
              <a:t>” acts to </a:t>
            </a:r>
            <a:r>
              <a:rPr lang="en-US" sz="1600" dirty="0">
                <a:solidFill>
                  <a:schemeClr val="accent5"/>
                </a:solidFill>
              </a:rPr>
              <a:t>modify or remove certain frequencies </a:t>
            </a:r>
            <a:r>
              <a:rPr lang="en-US" sz="1600" dirty="0">
                <a:solidFill>
                  <a:schemeClr val="tx1"/>
                </a:solidFill>
              </a:rPr>
              <a:t>in the data.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It may not necessarily make the data visually “</a:t>
            </a:r>
            <a:r>
              <a:rPr lang="en-US" sz="1600" dirty="0">
                <a:solidFill>
                  <a:schemeClr val="accent5"/>
                </a:solidFill>
              </a:rPr>
              <a:t>smoother</a:t>
            </a:r>
            <a:r>
              <a:rPr lang="en-US" sz="1600" dirty="0">
                <a:solidFill>
                  <a:schemeClr val="tx1"/>
                </a:solidFill>
              </a:rPr>
              <a:t>” (although it can).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Applying a </a:t>
            </a:r>
            <a:r>
              <a:rPr lang="en-US" sz="1600" dirty="0">
                <a:solidFill>
                  <a:schemeClr val="accent5"/>
                </a:solidFill>
              </a:rPr>
              <a:t>weighted average </a:t>
            </a:r>
            <a:r>
              <a:rPr lang="en-US" sz="1600" dirty="0">
                <a:solidFill>
                  <a:schemeClr val="tx1"/>
                </a:solidFill>
              </a:rPr>
              <a:t>function window through the time series in the time domain (mathematically: </a:t>
            </a:r>
            <a:r>
              <a:rPr lang="en-US" sz="1600" i="1" dirty="0">
                <a:solidFill>
                  <a:schemeClr val="tx1"/>
                </a:solidFill>
              </a:rPr>
              <a:t>convolution</a:t>
            </a:r>
            <a:r>
              <a:rPr lang="en-US" sz="1600" dirty="0">
                <a:solidFill>
                  <a:schemeClr val="tx1"/>
                </a:solidFill>
              </a:rPr>
              <a:t>) is equivalent to </a:t>
            </a:r>
            <a:r>
              <a:rPr lang="en-US" sz="1600" dirty="0">
                <a:solidFill>
                  <a:schemeClr val="accent5"/>
                </a:solidFill>
              </a:rPr>
              <a:t>multiplication in the frequency domain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4EA65987-D092-E721-66E5-3060F8AA6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904" y="2538943"/>
            <a:ext cx="6198433" cy="262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FD98D2-982F-5727-AA7D-6A4AFBCFA334}"/>
              </a:ext>
            </a:extLst>
          </p:cNvPr>
          <p:cNvSpPr txBox="1"/>
          <p:nvPr/>
        </p:nvSpPr>
        <p:spPr>
          <a:xfrm>
            <a:off x="7289653" y="4914143"/>
            <a:ext cx="19143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[</a:t>
            </a:r>
            <a:r>
              <a:rPr lang="en-US" sz="1000" dirty="0" err="1"/>
              <a:t>Spinningspark</a:t>
            </a:r>
            <a:r>
              <a:rPr lang="en-US" sz="1000" dirty="0"/>
              <a:t>/CC BY-SA 3.0]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AE562-69BD-DA47-026C-C2884F705641}"/>
              </a:ext>
            </a:extLst>
          </p:cNvPr>
          <p:cNvSpPr txBox="1"/>
          <p:nvPr/>
        </p:nvSpPr>
        <p:spPr>
          <a:xfrm>
            <a:off x="500796" y="2781528"/>
            <a:ext cx="229349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Examples of types of filter in the frequency domain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Red lines indicate multiplication applied to spectrum as a function of frequency (maximum = 1)</a:t>
            </a:r>
          </a:p>
        </p:txBody>
      </p:sp>
    </p:spTree>
    <p:extLst>
      <p:ext uri="{BB962C8B-B14F-4D97-AF65-F5344CB8AC3E}">
        <p14:creationId xmlns:p14="http://schemas.microsoft.com/office/powerpoint/2010/main" val="81753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359C-36F6-BFC5-1C8B-CC9ECD89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8657C59-1097-5B77-CD81-C59D0CE967B1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Filtering in frequency space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73972-AC5D-8A50-4E09-724337D90E9C}"/>
              </a:ext>
            </a:extLst>
          </p:cNvPr>
          <p:cNvSpPr txBox="1">
            <a:spLocks/>
          </p:cNvSpPr>
          <p:nvPr/>
        </p:nvSpPr>
        <p:spPr>
          <a:xfrm>
            <a:off x="31660" y="761533"/>
            <a:ext cx="9337191" cy="426011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LowpassFilter</a:t>
            </a:r>
            <a:r>
              <a:rPr lang="en-US" sz="1600" dirty="0">
                <a:solidFill>
                  <a:schemeClr val="tx1"/>
                </a:solidFill>
              </a:rPr>
              <a:t>	Removes or attenuates frequencies </a:t>
            </a:r>
            <a:r>
              <a:rPr lang="en-US" sz="1600" dirty="0">
                <a:solidFill>
                  <a:schemeClr val="accent5"/>
                </a:solidFill>
              </a:rPr>
              <a:t>above a cutoff </a:t>
            </a:r>
            <a:r>
              <a:rPr lang="en-US" sz="1600" dirty="0">
                <a:solidFill>
                  <a:schemeClr val="tx1"/>
                </a:solidFill>
              </a:rPr>
              <a:t>frequency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(i.e. lets </a:t>
            </a:r>
            <a:r>
              <a:rPr lang="en-US" sz="1600" dirty="0">
                <a:solidFill>
                  <a:schemeClr val="accent5"/>
                </a:solidFill>
              </a:rPr>
              <a:t>low</a:t>
            </a:r>
            <a:r>
              <a:rPr lang="en-US" sz="1600" dirty="0">
                <a:solidFill>
                  <a:schemeClr val="tx1"/>
                </a:solidFill>
              </a:rPr>
              <a:t> frequencies </a:t>
            </a:r>
            <a:r>
              <a:rPr lang="en-US" sz="1600" dirty="0">
                <a:solidFill>
                  <a:schemeClr val="accent5"/>
                </a:solidFill>
              </a:rPr>
              <a:t>pass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NB: Cutoff is not usually a step; different shapes are possible				Good for removing noise and “smoothing”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HighpassFilter</a:t>
            </a:r>
            <a:r>
              <a:rPr lang="en-US" sz="1600" dirty="0">
                <a:solidFill>
                  <a:schemeClr val="tx1"/>
                </a:solidFill>
              </a:rPr>
              <a:t>	Removes or attenuates frequencies </a:t>
            </a:r>
            <a:r>
              <a:rPr lang="en-US" sz="1600" dirty="0">
                <a:solidFill>
                  <a:schemeClr val="accent5"/>
                </a:solidFill>
              </a:rPr>
              <a:t>below a cutoff</a:t>
            </a:r>
            <a:r>
              <a:rPr lang="en-US" sz="1600" dirty="0">
                <a:solidFill>
                  <a:schemeClr val="tx1"/>
                </a:solidFill>
              </a:rPr>
              <a:t> frequency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(i.e. lets high frequencies pass)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Good for removing long-term trends and cycles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BandpassFilter</a:t>
            </a:r>
            <a:r>
              <a:rPr lang="en-US" sz="1600" dirty="0">
                <a:solidFill>
                  <a:schemeClr val="tx1"/>
                </a:solidFill>
              </a:rPr>
              <a:t>	Lets through a range (band) of frequencies around a particular frequency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Allows you to examine specific periodic </a:t>
            </a:r>
            <a:r>
              <a:rPr lang="en-US" sz="1600" dirty="0" err="1">
                <a:solidFill>
                  <a:schemeClr val="tx1"/>
                </a:solidFill>
              </a:rPr>
              <a:t>behaviour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BandstopFilter</a:t>
            </a:r>
            <a:r>
              <a:rPr lang="en-US" sz="1600" dirty="0">
                <a:solidFill>
                  <a:schemeClr val="tx1"/>
                </a:solidFill>
              </a:rPr>
              <a:t>	Removes a range of frequencies around a particular frequency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If the band is very narrow, this is called a </a:t>
            </a:r>
            <a:r>
              <a:rPr lang="en-US" sz="1600" dirty="0">
                <a:solidFill>
                  <a:schemeClr val="accent5"/>
                </a:solidFill>
              </a:rPr>
              <a:t>notch filter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Allows you to remove specific periodic </a:t>
            </a:r>
            <a:r>
              <a:rPr lang="en-US" sz="1600" dirty="0" err="1">
                <a:solidFill>
                  <a:schemeClr val="tx1"/>
                </a:solidFill>
              </a:rPr>
              <a:t>behaviour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e.g. a fixed oscillation due to something in the measuring device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801542B1-1A88-A562-2B28-41A781A55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5" t="6640" r="50924" b="53534"/>
          <a:stretch/>
        </p:blipFill>
        <p:spPr bwMode="auto">
          <a:xfrm>
            <a:off x="7676954" y="1844556"/>
            <a:ext cx="1320801" cy="982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undefined">
            <a:extLst>
              <a:ext uri="{FF2B5EF4-FFF2-40B4-BE49-F238E27FC236}">
                <a16:creationId xmlns:a16="http://schemas.microsoft.com/office/drawing/2014/main" id="{AACBF7C9-DCCA-58B4-D5F7-F42D3234FD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" t="7505" r="75141" b="53096"/>
          <a:stretch/>
        </p:blipFill>
        <p:spPr bwMode="auto">
          <a:xfrm>
            <a:off x="7676954" y="642263"/>
            <a:ext cx="1304144" cy="97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0104392F-A943-9E53-20E8-115FF9B1FC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73" t="8102" r="3419" b="53915"/>
          <a:stretch/>
        </p:blipFill>
        <p:spPr bwMode="auto">
          <a:xfrm>
            <a:off x="235295" y="4058585"/>
            <a:ext cx="1289154" cy="93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4E4CDA-38AB-938A-5360-B7EDC2228DCE}"/>
              </a:ext>
            </a:extLst>
          </p:cNvPr>
          <p:cNvSpPr txBox="1"/>
          <p:nvPr/>
        </p:nvSpPr>
        <p:spPr>
          <a:xfrm>
            <a:off x="1845780" y="4775195"/>
            <a:ext cx="3398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Example</a:t>
            </a:r>
            <a:r>
              <a:rPr lang="en-US" sz="1600">
                <a:solidFill>
                  <a:schemeClr val="accent6"/>
                </a:solidFill>
              </a:rPr>
              <a:t>: 11_</a:t>
            </a:r>
            <a:r>
              <a:rPr lang="en-US" sz="1600" dirty="0">
                <a:solidFill>
                  <a:schemeClr val="accent6"/>
                </a:solidFill>
              </a:rPr>
              <a:t>frequency_filtering.nb</a:t>
            </a:r>
          </a:p>
        </p:txBody>
      </p:sp>
      <p:pic>
        <p:nvPicPr>
          <p:cNvPr id="6" name="Picture 2" descr="undefined">
            <a:extLst>
              <a:ext uri="{FF2B5EF4-FFF2-40B4-BE49-F238E27FC236}">
                <a16:creationId xmlns:a16="http://schemas.microsoft.com/office/drawing/2014/main" id="{90C093A5-167C-8C96-876C-C740A22980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91" t="6305" r="26768" b="52847"/>
          <a:stretch/>
        </p:blipFill>
        <p:spPr bwMode="auto">
          <a:xfrm>
            <a:off x="7774606" y="3277363"/>
            <a:ext cx="1337734" cy="100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3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t Natives - Slide Template 2022">
  <a:themeElements>
    <a:clrScheme name="UoA NB">
      <a:dk1>
        <a:srgbClr val="00354B"/>
      </a:dk1>
      <a:lt1>
        <a:sysClr val="window" lastClr="FFFFFF"/>
      </a:lt1>
      <a:dk2>
        <a:srgbClr val="00354B"/>
      </a:dk2>
      <a:lt2>
        <a:srgbClr val="E7E6E6"/>
      </a:lt2>
      <a:accent1>
        <a:srgbClr val="00354B"/>
      </a:accent1>
      <a:accent2>
        <a:srgbClr val="00A092"/>
      </a:accent2>
      <a:accent3>
        <a:srgbClr val="2A5CAA"/>
      </a:accent3>
      <a:accent4>
        <a:srgbClr val="A01A59"/>
      </a:accent4>
      <a:accent5>
        <a:srgbClr val="E73331"/>
      </a:accent5>
      <a:accent6>
        <a:srgbClr val="462E8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F9979B35931449F7D5B555FF11DBF" ma:contentTypeVersion="15" ma:contentTypeDescription="Create a new document." ma:contentTypeScope="" ma:versionID="40028b60f78d3b1e1027daf11f117501">
  <xsd:schema xmlns:xsd="http://www.w3.org/2001/XMLSchema" xmlns:xs="http://www.w3.org/2001/XMLSchema" xmlns:p="http://schemas.microsoft.com/office/2006/metadata/properties" xmlns:ns3="afda85e8-169f-4de6-ab20-dcb4d9f52f1d" xmlns:ns4="8b1dd782-ccf7-4009-b7ca-c017af54b4e8" targetNamespace="http://schemas.microsoft.com/office/2006/metadata/properties" ma:root="true" ma:fieldsID="2814960e859bcb58c5184922c838c881" ns3:_="" ns4:_="">
    <xsd:import namespace="afda85e8-169f-4de6-ab20-dcb4d9f52f1d"/>
    <xsd:import namespace="8b1dd782-ccf7-4009-b7ca-c017af54b4e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da85e8-169f-4de6-ab20-dcb4d9f52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dd782-ccf7-4009-b7ca-c017af54b4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b1dd782-ccf7-4009-b7ca-c017af54b4e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F9613A-C801-49EA-A7FA-513B2D0914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da85e8-169f-4de6-ab20-dcb4d9f52f1d"/>
    <ds:schemaRef ds:uri="8b1dd782-ccf7-4009-b7ca-c017af54b4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15FE96-BD7D-43F9-B325-35CBEA89D188}">
  <ds:schemaRefs>
    <ds:schemaRef ds:uri="http://purl.org/dc/elements/1.1/"/>
    <ds:schemaRef ds:uri="http://purl.org/dc/terms/"/>
    <ds:schemaRef ds:uri="8b1dd782-ccf7-4009-b7ca-c017af54b4e8"/>
    <ds:schemaRef ds:uri="http://purl.org/dc/dcmitype/"/>
    <ds:schemaRef ds:uri="http://www.w3.org/XML/1998/namespace"/>
    <ds:schemaRef ds:uri="http://schemas.microsoft.com/office/2006/documentManagement/types"/>
    <ds:schemaRef ds:uri="afda85e8-169f-4de6-ab20-dcb4d9f52f1d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77700E5-9302-469D-A5F8-2104E8F64D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18968</TotalTime>
  <Words>3434</Words>
  <Application>Microsoft Office PowerPoint</Application>
  <PresentationFormat>On-screen Show (16:9)</PresentationFormat>
  <Paragraphs>449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Calibri</vt:lpstr>
      <vt:lpstr>Arial</vt:lpstr>
      <vt:lpstr>Montserrat</vt:lpstr>
      <vt:lpstr>Cambria Math</vt:lpstr>
      <vt:lpstr>Calibri Light</vt:lpstr>
      <vt:lpstr>Custom Design</vt:lpstr>
      <vt:lpstr>Net Natives - Slide Template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Lee, Craig</dc:creator>
  <cp:lastModifiedBy>Ross Thomson</cp:lastModifiedBy>
  <cp:revision>101</cp:revision>
  <dcterms:modified xsi:type="dcterms:W3CDTF">2025-11-13T13:51:18Z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0x010100CD4F9979B35931449F7D5B555FF11DBF</vt:lpwstr>
  </property>
</Properties>
</file>